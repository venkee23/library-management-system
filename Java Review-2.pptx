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5"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C50A68-FC5E-BC40-214E-F4BD29AFC402}" v="17" dt="2026-02-18T15:04:37.420"/>
    <p1510:client id="{EA02BF59-53B1-62CD-3088-CA97A966B8F7}" v="838" dt="2026-02-18T16:03:43.8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CB82CE-0E49-40BE-9DE8-1A11CB3DDB84}"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30A5590-FBA6-45C5-BFCB-4F813CEB7D97}">
      <dgm:prSet/>
      <dgm:spPr/>
      <dgm:t>
        <a:bodyPr/>
        <a:lstStyle/>
        <a:p>
          <a:pPr>
            <a:lnSpc>
              <a:spcPct val="100000"/>
            </a:lnSpc>
          </a:pPr>
          <a:r>
            <a:rPr lang="en-US"/>
            <a:t>Chaitanya – User Interface development in Apache Netbeans using swing forms.</a:t>
          </a:r>
        </a:p>
      </dgm:t>
    </dgm:pt>
    <dgm:pt modelId="{E0AC5B39-ED8D-4FB6-8A88-1A92F0891D12}" type="parTrans" cxnId="{C317E274-BF7E-4AC3-9421-D6BC38A921D6}">
      <dgm:prSet/>
      <dgm:spPr/>
      <dgm:t>
        <a:bodyPr/>
        <a:lstStyle/>
        <a:p>
          <a:endParaRPr lang="en-US"/>
        </a:p>
      </dgm:t>
    </dgm:pt>
    <dgm:pt modelId="{85F21466-3639-4A86-B124-C31A9376B718}" type="sibTrans" cxnId="{C317E274-BF7E-4AC3-9421-D6BC38A921D6}">
      <dgm:prSet/>
      <dgm:spPr/>
      <dgm:t>
        <a:bodyPr/>
        <a:lstStyle/>
        <a:p>
          <a:pPr>
            <a:lnSpc>
              <a:spcPct val="100000"/>
            </a:lnSpc>
          </a:pPr>
          <a:endParaRPr lang="en-US"/>
        </a:p>
      </dgm:t>
    </dgm:pt>
    <dgm:pt modelId="{7BCED9F6-F546-47FD-A452-9B414B2A77C1}">
      <dgm:prSet/>
      <dgm:spPr/>
      <dgm:t>
        <a:bodyPr/>
        <a:lstStyle/>
        <a:p>
          <a:pPr>
            <a:lnSpc>
              <a:spcPct val="100000"/>
            </a:lnSpc>
          </a:pPr>
          <a:r>
            <a:rPr lang="en-US"/>
            <a:t>Rupesh – Database creation in MySQL all accessing all records of library.</a:t>
          </a:r>
        </a:p>
      </dgm:t>
    </dgm:pt>
    <dgm:pt modelId="{E9506A4B-E454-4B87-BF56-9552B6C755AE}" type="parTrans" cxnId="{345E0C65-57E4-4065-AD3B-A0FE6FBF572F}">
      <dgm:prSet/>
      <dgm:spPr/>
      <dgm:t>
        <a:bodyPr/>
        <a:lstStyle/>
        <a:p>
          <a:endParaRPr lang="en-US"/>
        </a:p>
      </dgm:t>
    </dgm:pt>
    <dgm:pt modelId="{CB7C0BE3-F66A-432C-85CD-4905E33204C2}" type="sibTrans" cxnId="{345E0C65-57E4-4065-AD3B-A0FE6FBF572F}">
      <dgm:prSet/>
      <dgm:spPr/>
      <dgm:t>
        <a:bodyPr/>
        <a:lstStyle/>
        <a:p>
          <a:pPr>
            <a:lnSpc>
              <a:spcPct val="100000"/>
            </a:lnSpc>
          </a:pPr>
          <a:endParaRPr lang="en-US"/>
        </a:p>
      </dgm:t>
    </dgm:pt>
    <dgm:pt modelId="{5899EE83-EC33-45F6-A5D3-9744F24CD365}">
      <dgm:prSet/>
      <dgm:spPr/>
      <dgm:t>
        <a:bodyPr/>
        <a:lstStyle/>
        <a:p>
          <a:pPr>
            <a:lnSpc>
              <a:spcPct val="100000"/>
            </a:lnSpc>
          </a:pPr>
          <a:r>
            <a:rPr lang="en-US"/>
            <a:t>Venkatesh – JDBC using mysql connector in netbeans and performing all connection in running and accessing data from database.</a:t>
          </a:r>
        </a:p>
      </dgm:t>
    </dgm:pt>
    <dgm:pt modelId="{2D341D41-51D8-42B1-ABAA-29015E6BA141}" type="parTrans" cxnId="{FFC457FD-7A73-42EC-8EA7-13734A1523FF}">
      <dgm:prSet/>
      <dgm:spPr/>
      <dgm:t>
        <a:bodyPr/>
        <a:lstStyle/>
        <a:p>
          <a:endParaRPr lang="en-US"/>
        </a:p>
      </dgm:t>
    </dgm:pt>
    <dgm:pt modelId="{C12F48DE-1D5D-4D85-A9BC-A60B60991E68}" type="sibTrans" cxnId="{FFC457FD-7A73-42EC-8EA7-13734A1523FF}">
      <dgm:prSet/>
      <dgm:spPr/>
      <dgm:t>
        <a:bodyPr/>
        <a:lstStyle/>
        <a:p>
          <a:pPr>
            <a:lnSpc>
              <a:spcPct val="100000"/>
            </a:lnSpc>
          </a:pPr>
          <a:endParaRPr lang="en-US"/>
        </a:p>
      </dgm:t>
    </dgm:pt>
    <dgm:pt modelId="{DF0E34D3-9416-457B-9344-7E426393C01C}">
      <dgm:prSet/>
      <dgm:spPr/>
      <dgm:t>
        <a:bodyPr/>
        <a:lstStyle/>
        <a:p>
          <a:pPr>
            <a:lnSpc>
              <a:spcPct val="100000"/>
            </a:lnSpc>
          </a:pPr>
          <a:r>
            <a:rPr lang="en-US"/>
            <a:t>Jashuva - Testing the complete process and preparing a detailed document .</a:t>
          </a:r>
        </a:p>
      </dgm:t>
    </dgm:pt>
    <dgm:pt modelId="{E08ACDDC-4878-4562-BF06-D25BDD0859C5}" type="parTrans" cxnId="{BE862CAA-171E-471B-BCEC-89A2D39880B8}">
      <dgm:prSet/>
      <dgm:spPr/>
      <dgm:t>
        <a:bodyPr/>
        <a:lstStyle/>
        <a:p>
          <a:endParaRPr lang="en-US"/>
        </a:p>
      </dgm:t>
    </dgm:pt>
    <dgm:pt modelId="{002C6373-A9D8-4F1F-94B7-AB7816E2884D}" type="sibTrans" cxnId="{BE862CAA-171E-471B-BCEC-89A2D39880B8}">
      <dgm:prSet/>
      <dgm:spPr/>
      <dgm:t>
        <a:bodyPr/>
        <a:lstStyle/>
        <a:p>
          <a:endParaRPr lang="en-US"/>
        </a:p>
      </dgm:t>
    </dgm:pt>
    <dgm:pt modelId="{1E7432B8-F214-4316-8CBF-67FD80529332}" type="pres">
      <dgm:prSet presAssocID="{10CB82CE-0E49-40BE-9DE8-1A11CB3DDB84}" presName="root" presStyleCnt="0">
        <dgm:presLayoutVars>
          <dgm:dir/>
          <dgm:resizeHandles val="exact"/>
        </dgm:presLayoutVars>
      </dgm:prSet>
      <dgm:spPr/>
    </dgm:pt>
    <dgm:pt modelId="{C40FA30A-FBFD-4903-9249-D88C54FABE47}" type="pres">
      <dgm:prSet presAssocID="{10CB82CE-0E49-40BE-9DE8-1A11CB3DDB84}" presName="container" presStyleCnt="0">
        <dgm:presLayoutVars>
          <dgm:dir/>
          <dgm:resizeHandles val="exact"/>
        </dgm:presLayoutVars>
      </dgm:prSet>
      <dgm:spPr/>
    </dgm:pt>
    <dgm:pt modelId="{606E60B8-A92D-4CF7-8ECB-91188E8A0975}" type="pres">
      <dgm:prSet presAssocID="{630A5590-FBA6-45C5-BFCB-4F813CEB7D97}" presName="compNode" presStyleCnt="0"/>
      <dgm:spPr/>
    </dgm:pt>
    <dgm:pt modelId="{A6255D05-4AAF-45DB-830E-C6E31165387A}" type="pres">
      <dgm:prSet presAssocID="{630A5590-FBA6-45C5-BFCB-4F813CEB7D97}" presName="iconBgRect" presStyleLbl="bgShp" presStyleIdx="0" presStyleCnt="4"/>
      <dgm:spPr/>
    </dgm:pt>
    <dgm:pt modelId="{F9B813F0-2A29-45A4-93A5-2110C20B9AAE}" type="pres">
      <dgm:prSet presAssocID="{630A5590-FBA6-45C5-BFCB-4F813CEB7D9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DAB286EE-3857-421C-AAF7-BFE4E0A0A612}" type="pres">
      <dgm:prSet presAssocID="{630A5590-FBA6-45C5-BFCB-4F813CEB7D97}" presName="spaceRect" presStyleCnt="0"/>
      <dgm:spPr/>
    </dgm:pt>
    <dgm:pt modelId="{9E7C9325-FBDE-4117-A13E-2D341636CB96}" type="pres">
      <dgm:prSet presAssocID="{630A5590-FBA6-45C5-BFCB-4F813CEB7D97}" presName="textRect" presStyleLbl="revTx" presStyleIdx="0" presStyleCnt="4">
        <dgm:presLayoutVars>
          <dgm:chMax val="1"/>
          <dgm:chPref val="1"/>
        </dgm:presLayoutVars>
      </dgm:prSet>
      <dgm:spPr/>
    </dgm:pt>
    <dgm:pt modelId="{CFCBA71E-AE40-487B-801B-526F0626ADE6}" type="pres">
      <dgm:prSet presAssocID="{85F21466-3639-4A86-B124-C31A9376B718}" presName="sibTrans" presStyleLbl="sibTrans2D1" presStyleIdx="0" presStyleCnt="0"/>
      <dgm:spPr/>
    </dgm:pt>
    <dgm:pt modelId="{7C739B26-8AF0-4C3E-9D91-44D96461A4FB}" type="pres">
      <dgm:prSet presAssocID="{7BCED9F6-F546-47FD-A452-9B414B2A77C1}" presName="compNode" presStyleCnt="0"/>
      <dgm:spPr/>
    </dgm:pt>
    <dgm:pt modelId="{53E5FAF3-3796-46D7-B833-59FB5015CAAF}" type="pres">
      <dgm:prSet presAssocID="{7BCED9F6-F546-47FD-A452-9B414B2A77C1}" presName="iconBgRect" presStyleLbl="bgShp" presStyleIdx="1" presStyleCnt="4"/>
      <dgm:spPr/>
    </dgm:pt>
    <dgm:pt modelId="{EEA19AC4-ADAE-4FC2-B866-89265B87BE51}" type="pres">
      <dgm:prSet presAssocID="{7BCED9F6-F546-47FD-A452-9B414B2A77C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6CB6B97C-FC83-4AFD-8DEB-6BA502F802AF}" type="pres">
      <dgm:prSet presAssocID="{7BCED9F6-F546-47FD-A452-9B414B2A77C1}" presName="spaceRect" presStyleCnt="0"/>
      <dgm:spPr/>
    </dgm:pt>
    <dgm:pt modelId="{5A4A491C-9994-48F3-8584-57DD98E25706}" type="pres">
      <dgm:prSet presAssocID="{7BCED9F6-F546-47FD-A452-9B414B2A77C1}" presName="textRect" presStyleLbl="revTx" presStyleIdx="1" presStyleCnt="4">
        <dgm:presLayoutVars>
          <dgm:chMax val="1"/>
          <dgm:chPref val="1"/>
        </dgm:presLayoutVars>
      </dgm:prSet>
      <dgm:spPr/>
    </dgm:pt>
    <dgm:pt modelId="{FBB40C10-D0CE-45BB-A80C-DC597D7DB4CF}" type="pres">
      <dgm:prSet presAssocID="{CB7C0BE3-F66A-432C-85CD-4905E33204C2}" presName="sibTrans" presStyleLbl="sibTrans2D1" presStyleIdx="0" presStyleCnt="0"/>
      <dgm:spPr/>
    </dgm:pt>
    <dgm:pt modelId="{A3252F44-7EDA-4AD1-97DE-A73A9CB1E427}" type="pres">
      <dgm:prSet presAssocID="{5899EE83-EC33-45F6-A5D3-9744F24CD365}" presName="compNode" presStyleCnt="0"/>
      <dgm:spPr/>
    </dgm:pt>
    <dgm:pt modelId="{1AEA6584-C368-460B-A739-9463DE34AEB9}" type="pres">
      <dgm:prSet presAssocID="{5899EE83-EC33-45F6-A5D3-9744F24CD365}" presName="iconBgRect" presStyleLbl="bgShp" presStyleIdx="2" presStyleCnt="4"/>
      <dgm:spPr/>
    </dgm:pt>
    <dgm:pt modelId="{0DDC27CE-6D5F-4BCA-A11F-BCD9C2117BD1}" type="pres">
      <dgm:prSet presAssocID="{5899EE83-EC33-45F6-A5D3-9744F24CD36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24388F1C-AA6D-433A-9C2C-44610BA0AEA0}" type="pres">
      <dgm:prSet presAssocID="{5899EE83-EC33-45F6-A5D3-9744F24CD365}" presName="spaceRect" presStyleCnt="0"/>
      <dgm:spPr/>
    </dgm:pt>
    <dgm:pt modelId="{76415F5B-4B87-40AD-97D3-79C5B1DAC085}" type="pres">
      <dgm:prSet presAssocID="{5899EE83-EC33-45F6-A5D3-9744F24CD365}" presName="textRect" presStyleLbl="revTx" presStyleIdx="2" presStyleCnt="4">
        <dgm:presLayoutVars>
          <dgm:chMax val="1"/>
          <dgm:chPref val="1"/>
        </dgm:presLayoutVars>
      </dgm:prSet>
      <dgm:spPr/>
    </dgm:pt>
    <dgm:pt modelId="{E1741C2E-2340-49DB-8144-FE515A6207A9}" type="pres">
      <dgm:prSet presAssocID="{C12F48DE-1D5D-4D85-A9BC-A60B60991E68}" presName="sibTrans" presStyleLbl="sibTrans2D1" presStyleIdx="0" presStyleCnt="0"/>
      <dgm:spPr/>
    </dgm:pt>
    <dgm:pt modelId="{259D2739-3F61-433A-BB69-5338D4BA670C}" type="pres">
      <dgm:prSet presAssocID="{DF0E34D3-9416-457B-9344-7E426393C01C}" presName="compNode" presStyleCnt="0"/>
      <dgm:spPr/>
    </dgm:pt>
    <dgm:pt modelId="{AF26F5BD-3AFC-4B69-B1A8-A5B6F72706EA}" type="pres">
      <dgm:prSet presAssocID="{DF0E34D3-9416-457B-9344-7E426393C01C}" presName="iconBgRect" presStyleLbl="bgShp" presStyleIdx="3" presStyleCnt="4"/>
      <dgm:spPr/>
    </dgm:pt>
    <dgm:pt modelId="{1E539E9D-92FF-49B8-BBB5-DB5F54D87353}" type="pres">
      <dgm:prSet presAssocID="{DF0E34D3-9416-457B-9344-7E426393C01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3F65FC8D-9940-4F83-B439-7BCA332D9A7E}" type="pres">
      <dgm:prSet presAssocID="{DF0E34D3-9416-457B-9344-7E426393C01C}" presName="spaceRect" presStyleCnt="0"/>
      <dgm:spPr/>
    </dgm:pt>
    <dgm:pt modelId="{0FF66F69-606D-43DA-A305-54D0A72CE30B}" type="pres">
      <dgm:prSet presAssocID="{DF0E34D3-9416-457B-9344-7E426393C01C}" presName="textRect" presStyleLbl="revTx" presStyleIdx="3" presStyleCnt="4">
        <dgm:presLayoutVars>
          <dgm:chMax val="1"/>
          <dgm:chPref val="1"/>
        </dgm:presLayoutVars>
      </dgm:prSet>
      <dgm:spPr/>
    </dgm:pt>
  </dgm:ptLst>
  <dgm:cxnLst>
    <dgm:cxn modelId="{226B8702-AF6E-4751-BAD8-9FA960B44B7C}" type="presOf" srcId="{5899EE83-EC33-45F6-A5D3-9744F24CD365}" destId="{76415F5B-4B87-40AD-97D3-79C5B1DAC085}" srcOrd="0" destOrd="0" presId="urn:microsoft.com/office/officeart/2018/2/layout/IconCircleList"/>
    <dgm:cxn modelId="{D139DA18-695F-4293-A1BA-39B4E52A120E}" type="presOf" srcId="{7BCED9F6-F546-47FD-A452-9B414B2A77C1}" destId="{5A4A491C-9994-48F3-8584-57DD98E25706}" srcOrd="0" destOrd="0" presId="urn:microsoft.com/office/officeart/2018/2/layout/IconCircleList"/>
    <dgm:cxn modelId="{F23B173B-A333-4326-8578-954A8CCA7223}" type="presOf" srcId="{630A5590-FBA6-45C5-BFCB-4F813CEB7D97}" destId="{9E7C9325-FBDE-4117-A13E-2D341636CB96}" srcOrd="0" destOrd="0" presId="urn:microsoft.com/office/officeart/2018/2/layout/IconCircleList"/>
    <dgm:cxn modelId="{345E0C65-57E4-4065-AD3B-A0FE6FBF572F}" srcId="{10CB82CE-0E49-40BE-9DE8-1A11CB3DDB84}" destId="{7BCED9F6-F546-47FD-A452-9B414B2A77C1}" srcOrd="1" destOrd="0" parTransId="{E9506A4B-E454-4B87-BF56-9552B6C755AE}" sibTransId="{CB7C0BE3-F66A-432C-85CD-4905E33204C2}"/>
    <dgm:cxn modelId="{C317E274-BF7E-4AC3-9421-D6BC38A921D6}" srcId="{10CB82CE-0E49-40BE-9DE8-1A11CB3DDB84}" destId="{630A5590-FBA6-45C5-BFCB-4F813CEB7D97}" srcOrd="0" destOrd="0" parTransId="{E0AC5B39-ED8D-4FB6-8A88-1A92F0891D12}" sibTransId="{85F21466-3639-4A86-B124-C31A9376B718}"/>
    <dgm:cxn modelId="{BC022F9B-19D2-4FD6-9E0F-468F2D25D823}" type="presOf" srcId="{10CB82CE-0E49-40BE-9DE8-1A11CB3DDB84}" destId="{1E7432B8-F214-4316-8CBF-67FD80529332}" srcOrd="0" destOrd="0" presId="urn:microsoft.com/office/officeart/2018/2/layout/IconCircleList"/>
    <dgm:cxn modelId="{EDD70D9F-FA0B-4986-BBF7-38DC7C5F3F06}" type="presOf" srcId="{85F21466-3639-4A86-B124-C31A9376B718}" destId="{CFCBA71E-AE40-487B-801B-526F0626ADE6}" srcOrd="0" destOrd="0" presId="urn:microsoft.com/office/officeart/2018/2/layout/IconCircleList"/>
    <dgm:cxn modelId="{BE862CAA-171E-471B-BCEC-89A2D39880B8}" srcId="{10CB82CE-0E49-40BE-9DE8-1A11CB3DDB84}" destId="{DF0E34D3-9416-457B-9344-7E426393C01C}" srcOrd="3" destOrd="0" parTransId="{E08ACDDC-4878-4562-BF06-D25BDD0859C5}" sibTransId="{002C6373-A9D8-4F1F-94B7-AB7816E2884D}"/>
    <dgm:cxn modelId="{3B9787DA-BAB5-4A3C-B2C1-3E405ABA01BC}" type="presOf" srcId="{CB7C0BE3-F66A-432C-85CD-4905E33204C2}" destId="{FBB40C10-D0CE-45BB-A80C-DC597D7DB4CF}" srcOrd="0" destOrd="0" presId="urn:microsoft.com/office/officeart/2018/2/layout/IconCircleList"/>
    <dgm:cxn modelId="{F24688E3-7010-40F2-B61C-9F230EB4F82E}" type="presOf" srcId="{DF0E34D3-9416-457B-9344-7E426393C01C}" destId="{0FF66F69-606D-43DA-A305-54D0A72CE30B}" srcOrd="0" destOrd="0" presId="urn:microsoft.com/office/officeart/2018/2/layout/IconCircleList"/>
    <dgm:cxn modelId="{1AB065EC-3B8E-49A7-8E22-F2B54B16CFDD}" type="presOf" srcId="{C12F48DE-1D5D-4D85-A9BC-A60B60991E68}" destId="{E1741C2E-2340-49DB-8144-FE515A6207A9}" srcOrd="0" destOrd="0" presId="urn:microsoft.com/office/officeart/2018/2/layout/IconCircleList"/>
    <dgm:cxn modelId="{FFC457FD-7A73-42EC-8EA7-13734A1523FF}" srcId="{10CB82CE-0E49-40BE-9DE8-1A11CB3DDB84}" destId="{5899EE83-EC33-45F6-A5D3-9744F24CD365}" srcOrd="2" destOrd="0" parTransId="{2D341D41-51D8-42B1-ABAA-29015E6BA141}" sibTransId="{C12F48DE-1D5D-4D85-A9BC-A60B60991E68}"/>
    <dgm:cxn modelId="{06FB8FE8-6CE6-4A6F-BD33-0BDA9909AC86}" type="presParOf" srcId="{1E7432B8-F214-4316-8CBF-67FD80529332}" destId="{C40FA30A-FBFD-4903-9249-D88C54FABE47}" srcOrd="0" destOrd="0" presId="urn:microsoft.com/office/officeart/2018/2/layout/IconCircleList"/>
    <dgm:cxn modelId="{4427194B-A95D-41A5-8B28-D812FF9F26A0}" type="presParOf" srcId="{C40FA30A-FBFD-4903-9249-D88C54FABE47}" destId="{606E60B8-A92D-4CF7-8ECB-91188E8A0975}" srcOrd="0" destOrd="0" presId="urn:microsoft.com/office/officeart/2018/2/layout/IconCircleList"/>
    <dgm:cxn modelId="{2F0B743A-50A2-491E-B8E2-C8C274C729F0}" type="presParOf" srcId="{606E60B8-A92D-4CF7-8ECB-91188E8A0975}" destId="{A6255D05-4AAF-45DB-830E-C6E31165387A}" srcOrd="0" destOrd="0" presId="urn:microsoft.com/office/officeart/2018/2/layout/IconCircleList"/>
    <dgm:cxn modelId="{39532BBD-F735-480A-AE9B-D88C6C311FC4}" type="presParOf" srcId="{606E60B8-A92D-4CF7-8ECB-91188E8A0975}" destId="{F9B813F0-2A29-45A4-93A5-2110C20B9AAE}" srcOrd="1" destOrd="0" presId="urn:microsoft.com/office/officeart/2018/2/layout/IconCircleList"/>
    <dgm:cxn modelId="{F5877F5A-13B4-429F-8FD0-3B49D9464619}" type="presParOf" srcId="{606E60B8-A92D-4CF7-8ECB-91188E8A0975}" destId="{DAB286EE-3857-421C-AAF7-BFE4E0A0A612}" srcOrd="2" destOrd="0" presId="urn:microsoft.com/office/officeart/2018/2/layout/IconCircleList"/>
    <dgm:cxn modelId="{FDA64E97-F830-422F-ABF0-BB356F887E45}" type="presParOf" srcId="{606E60B8-A92D-4CF7-8ECB-91188E8A0975}" destId="{9E7C9325-FBDE-4117-A13E-2D341636CB96}" srcOrd="3" destOrd="0" presId="urn:microsoft.com/office/officeart/2018/2/layout/IconCircleList"/>
    <dgm:cxn modelId="{98F00853-1A07-4F14-9CFC-B312314881EC}" type="presParOf" srcId="{C40FA30A-FBFD-4903-9249-D88C54FABE47}" destId="{CFCBA71E-AE40-487B-801B-526F0626ADE6}" srcOrd="1" destOrd="0" presId="urn:microsoft.com/office/officeart/2018/2/layout/IconCircleList"/>
    <dgm:cxn modelId="{4FCD19F0-A0CD-4CFC-90B8-E8C57BC72BA5}" type="presParOf" srcId="{C40FA30A-FBFD-4903-9249-D88C54FABE47}" destId="{7C739B26-8AF0-4C3E-9D91-44D96461A4FB}" srcOrd="2" destOrd="0" presId="urn:microsoft.com/office/officeart/2018/2/layout/IconCircleList"/>
    <dgm:cxn modelId="{14F12AC9-3ED3-4B4F-867A-9E726AF95FD7}" type="presParOf" srcId="{7C739B26-8AF0-4C3E-9D91-44D96461A4FB}" destId="{53E5FAF3-3796-46D7-B833-59FB5015CAAF}" srcOrd="0" destOrd="0" presId="urn:microsoft.com/office/officeart/2018/2/layout/IconCircleList"/>
    <dgm:cxn modelId="{CB87D7C1-1F1D-4F28-92BE-84F5DADCED02}" type="presParOf" srcId="{7C739B26-8AF0-4C3E-9D91-44D96461A4FB}" destId="{EEA19AC4-ADAE-4FC2-B866-89265B87BE51}" srcOrd="1" destOrd="0" presId="urn:microsoft.com/office/officeart/2018/2/layout/IconCircleList"/>
    <dgm:cxn modelId="{DCBC8E58-5F33-4B37-A83A-FE37FE4F721A}" type="presParOf" srcId="{7C739B26-8AF0-4C3E-9D91-44D96461A4FB}" destId="{6CB6B97C-FC83-4AFD-8DEB-6BA502F802AF}" srcOrd="2" destOrd="0" presId="urn:microsoft.com/office/officeart/2018/2/layout/IconCircleList"/>
    <dgm:cxn modelId="{C3C7C2B8-4667-4A69-B639-25407E9990B4}" type="presParOf" srcId="{7C739B26-8AF0-4C3E-9D91-44D96461A4FB}" destId="{5A4A491C-9994-48F3-8584-57DD98E25706}" srcOrd="3" destOrd="0" presId="urn:microsoft.com/office/officeart/2018/2/layout/IconCircleList"/>
    <dgm:cxn modelId="{5EE52685-719E-4363-982C-9E1B82F3205C}" type="presParOf" srcId="{C40FA30A-FBFD-4903-9249-D88C54FABE47}" destId="{FBB40C10-D0CE-45BB-A80C-DC597D7DB4CF}" srcOrd="3" destOrd="0" presId="urn:microsoft.com/office/officeart/2018/2/layout/IconCircleList"/>
    <dgm:cxn modelId="{A180F4A1-5D2E-42E2-9966-D0C9D7841CE3}" type="presParOf" srcId="{C40FA30A-FBFD-4903-9249-D88C54FABE47}" destId="{A3252F44-7EDA-4AD1-97DE-A73A9CB1E427}" srcOrd="4" destOrd="0" presId="urn:microsoft.com/office/officeart/2018/2/layout/IconCircleList"/>
    <dgm:cxn modelId="{D535D705-DFED-4E58-981B-38CC4834F467}" type="presParOf" srcId="{A3252F44-7EDA-4AD1-97DE-A73A9CB1E427}" destId="{1AEA6584-C368-460B-A739-9463DE34AEB9}" srcOrd="0" destOrd="0" presId="urn:microsoft.com/office/officeart/2018/2/layout/IconCircleList"/>
    <dgm:cxn modelId="{4233E53E-777B-4E0F-97E1-0C30325BC995}" type="presParOf" srcId="{A3252F44-7EDA-4AD1-97DE-A73A9CB1E427}" destId="{0DDC27CE-6D5F-4BCA-A11F-BCD9C2117BD1}" srcOrd="1" destOrd="0" presId="urn:microsoft.com/office/officeart/2018/2/layout/IconCircleList"/>
    <dgm:cxn modelId="{172D559B-23FE-40C0-9D52-EC8F5FA568A2}" type="presParOf" srcId="{A3252F44-7EDA-4AD1-97DE-A73A9CB1E427}" destId="{24388F1C-AA6D-433A-9C2C-44610BA0AEA0}" srcOrd="2" destOrd="0" presId="urn:microsoft.com/office/officeart/2018/2/layout/IconCircleList"/>
    <dgm:cxn modelId="{91430E27-54A6-43C7-B652-50CC48A12FAE}" type="presParOf" srcId="{A3252F44-7EDA-4AD1-97DE-A73A9CB1E427}" destId="{76415F5B-4B87-40AD-97D3-79C5B1DAC085}" srcOrd="3" destOrd="0" presId="urn:microsoft.com/office/officeart/2018/2/layout/IconCircleList"/>
    <dgm:cxn modelId="{95258191-9CB3-4880-BC27-0E4B45DD1565}" type="presParOf" srcId="{C40FA30A-FBFD-4903-9249-D88C54FABE47}" destId="{E1741C2E-2340-49DB-8144-FE515A6207A9}" srcOrd="5" destOrd="0" presId="urn:microsoft.com/office/officeart/2018/2/layout/IconCircleList"/>
    <dgm:cxn modelId="{AC3A7AD2-74B4-4852-B8E6-359D696A538E}" type="presParOf" srcId="{C40FA30A-FBFD-4903-9249-D88C54FABE47}" destId="{259D2739-3F61-433A-BB69-5338D4BA670C}" srcOrd="6" destOrd="0" presId="urn:microsoft.com/office/officeart/2018/2/layout/IconCircleList"/>
    <dgm:cxn modelId="{706E5AF7-8760-4A36-B967-EE82D7B5B1C2}" type="presParOf" srcId="{259D2739-3F61-433A-BB69-5338D4BA670C}" destId="{AF26F5BD-3AFC-4B69-B1A8-A5B6F72706EA}" srcOrd="0" destOrd="0" presId="urn:microsoft.com/office/officeart/2018/2/layout/IconCircleList"/>
    <dgm:cxn modelId="{A73169E7-ECF9-4251-8E84-556B39A00E0B}" type="presParOf" srcId="{259D2739-3F61-433A-BB69-5338D4BA670C}" destId="{1E539E9D-92FF-49B8-BBB5-DB5F54D87353}" srcOrd="1" destOrd="0" presId="urn:microsoft.com/office/officeart/2018/2/layout/IconCircleList"/>
    <dgm:cxn modelId="{546BB3AD-5111-4204-8280-B305C5CEDEC7}" type="presParOf" srcId="{259D2739-3F61-433A-BB69-5338D4BA670C}" destId="{3F65FC8D-9940-4F83-B439-7BCA332D9A7E}" srcOrd="2" destOrd="0" presId="urn:microsoft.com/office/officeart/2018/2/layout/IconCircleList"/>
    <dgm:cxn modelId="{C9F98DDC-5CC8-492A-83EE-C0F0E21E57F9}" type="presParOf" srcId="{259D2739-3F61-433A-BB69-5338D4BA670C}" destId="{0FF66F69-606D-43DA-A305-54D0A72CE30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255D05-4AAF-45DB-830E-C6E31165387A}">
      <dsp:nvSpPr>
        <dsp:cNvPr id="0" name=""/>
        <dsp:cNvSpPr/>
      </dsp:nvSpPr>
      <dsp:spPr>
        <a:xfrm>
          <a:off x="231712" y="254998"/>
          <a:ext cx="1345916" cy="134591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B813F0-2A29-45A4-93A5-2110C20B9AAE}">
      <dsp:nvSpPr>
        <dsp:cNvPr id="0" name=""/>
        <dsp:cNvSpPr/>
      </dsp:nvSpPr>
      <dsp:spPr>
        <a:xfrm>
          <a:off x="514355" y="537640"/>
          <a:ext cx="780631" cy="7806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7C9325-FBDE-4117-A13E-2D341636CB96}">
      <dsp:nvSpPr>
        <dsp:cNvPr id="0" name=""/>
        <dsp:cNvSpPr/>
      </dsp:nvSpPr>
      <dsp:spPr>
        <a:xfrm>
          <a:off x="1866039" y="254998"/>
          <a:ext cx="3172516" cy="1345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Chaitanya – User Interface development in Apache Netbeans using swing forms.</a:t>
          </a:r>
        </a:p>
      </dsp:txBody>
      <dsp:txXfrm>
        <a:off x="1866039" y="254998"/>
        <a:ext cx="3172516" cy="1345916"/>
      </dsp:txXfrm>
    </dsp:sp>
    <dsp:sp modelId="{53E5FAF3-3796-46D7-B833-59FB5015CAAF}">
      <dsp:nvSpPr>
        <dsp:cNvPr id="0" name=""/>
        <dsp:cNvSpPr/>
      </dsp:nvSpPr>
      <dsp:spPr>
        <a:xfrm>
          <a:off x="5591343" y="254998"/>
          <a:ext cx="1345916" cy="134591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A19AC4-ADAE-4FC2-B866-89265B87BE51}">
      <dsp:nvSpPr>
        <dsp:cNvPr id="0" name=""/>
        <dsp:cNvSpPr/>
      </dsp:nvSpPr>
      <dsp:spPr>
        <a:xfrm>
          <a:off x="5873985" y="537640"/>
          <a:ext cx="780631" cy="7806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4A491C-9994-48F3-8584-57DD98E25706}">
      <dsp:nvSpPr>
        <dsp:cNvPr id="0" name=""/>
        <dsp:cNvSpPr/>
      </dsp:nvSpPr>
      <dsp:spPr>
        <a:xfrm>
          <a:off x="7225670" y="254998"/>
          <a:ext cx="3172516" cy="1345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Rupesh – Database creation in MySQL all accessing all records of library.</a:t>
          </a:r>
        </a:p>
      </dsp:txBody>
      <dsp:txXfrm>
        <a:off x="7225670" y="254998"/>
        <a:ext cx="3172516" cy="1345916"/>
      </dsp:txXfrm>
    </dsp:sp>
    <dsp:sp modelId="{1AEA6584-C368-460B-A739-9463DE34AEB9}">
      <dsp:nvSpPr>
        <dsp:cNvPr id="0" name=""/>
        <dsp:cNvSpPr/>
      </dsp:nvSpPr>
      <dsp:spPr>
        <a:xfrm>
          <a:off x="231712" y="2256711"/>
          <a:ext cx="1345916" cy="134591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DC27CE-6D5F-4BCA-A11F-BCD9C2117BD1}">
      <dsp:nvSpPr>
        <dsp:cNvPr id="0" name=""/>
        <dsp:cNvSpPr/>
      </dsp:nvSpPr>
      <dsp:spPr>
        <a:xfrm>
          <a:off x="514355" y="2539353"/>
          <a:ext cx="780631" cy="7806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415F5B-4B87-40AD-97D3-79C5B1DAC085}">
      <dsp:nvSpPr>
        <dsp:cNvPr id="0" name=""/>
        <dsp:cNvSpPr/>
      </dsp:nvSpPr>
      <dsp:spPr>
        <a:xfrm>
          <a:off x="1866039" y="2256711"/>
          <a:ext cx="3172516" cy="1345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Venkatesh – JDBC using mysql connector in netbeans and performing all connection in running and accessing data from database.</a:t>
          </a:r>
        </a:p>
      </dsp:txBody>
      <dsp:txXfrm>
        <a:off x="1866039" y="2256711"/>
        <a:ext cx="3172516" cy="1345916"/>
      </dsp:txXfrm>
    </dsp:sp>
    <dsp:sp modelId="{AF26F5BD-3AFC-4B69-B1A8-A5B6F72706EA}">
      <dsp:nvSpPr>
        <dsp:cNvPr id="0" name=""/>
        <dsp:cNvSpPr/>
      </dsp:nvSpPr>
      <dsp:spPr>
        <a:xfrm>
          <a:off x="5591343" y="2256711"/>
          <a:ext cx="1345916" cy="134591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539E9D-92FF-49B8-BBB5-DB5F54D87353}">
      <dsp:nvSpPr>
        <dsp:cNvPr id="0" name=""/>
        <dsp:cNvSpPr/>
      </dsp:nvSpPr>
      <dsp:spPr>
        <a:xfrm>
          <a:off x="5873985" y="2539353"/>
          <a:ext cx="780631" cy="7806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F66F69-606D-43DA-A305-54D0A72CE30B}">
      <dsp:nvSpPr>
        <dsp:cNvPr id="0" name=""/>
        <dsp:cNvSpPr/>
      </dsp:nvSpPr>
      <dsp:spPr>
        <a:xfrm>
          <a:off x="7225670" y="2256711"/>
          <a:ext cx="3172516" cy="1345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Jashuva - Testing the complete process and preparing a detailed document .</a:t>
          </a:r>
        </a:p>
      </dsp:txBody>
      <dsp:txXfrm>
        <a:off x="7225670" y="2256711"/>
        <a:ext cx="3172516" cy="134591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2/18/2026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26407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2/18/2026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4485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2/18/2026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333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2/18/2026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12996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2/18/2026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73753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2/18/2026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20210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2/18/2026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62306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2/18/2026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20951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2/18/2026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89678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2/18/2026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9889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2/18/2026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22669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2/18/2026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86800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1" r:id="rId6"/>
    <p:sldLayoutId id="2147483697" r:id="rId7"/>
    <p:sldLayoutId id="2147483698" r:id="rId8"/>
    <p:sldLayoutId id="2147483699" r:id="rId9"/>
    <p:sldLayoutId id="2147483700" r:id="rId10"/>
    <p:sldLayoutId id="2147483702"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bstract blurred public library with bookshelves">
            <a:extLst>
              <a:ext uri="{FF2B5EF4-FFF2-40B4-BE49-F238E27FC236}">
                <a16:creationId xmlns:a16="http://schemas.microsoft.com/office/drawing/2014/main" id="{A9FED8ED-2099-52EF-EDD8-A8254EA27D61}"/>
              </a:ext>
            </a:extLst>
          </p:cNvPr>
          <p:cNvPicPr>
            <a:picLocks noChangeAspect="1"/>
          </p:cNvPicPr>
          <p:nvPr/>
        </p:nvPicPr>
        <p:blipFill>
          <a:blip r:embed="rId2"/>
          <a:srcRect t="2771" b="12960"/>
          <a:stretch>
            <a:fillRect/>
          </a:stretch>
        </p:blipFill>
        <p:spPr>
          <a:xfrm>
            <a:off x="20" y="10"/>
            <a:ext cx="12191980" cy="6857990"/>
          </a:xfrm>
          <a:prstGeom prst="rect">
            <a:avLst/>
          </a:prstGeom>
        </p:spPr>
      </p:pic>
      <p:sp>
        <p:nvSpPr>
          <p:cNvPr id="50" name="Rectangle 49">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04088" y="871759"/>
            <a:ext cx="5067300" cy="3497042"/>
          </a:xfrm>
        </p:spPr>
        <p:txBody>
          <a:bodyPr vert="horz" lIns="91440" tIns="45720" rIns="91440" bIns="45720" rtlCol="0" anchor="t">
            <a:normAutofit/>
          </a:bodyPr>
          <a:lstStyle/>
          <a:p>
            <a:r>
              <a:rPr lang="en-US" sz="5000">
                <a:solidFill>
                  <a:srgbClr val="FFFFFF"/>
                </a:solidFill>
                <a:latin typeface="Seaford"/>
              </a:rPr>
              <a:t>Library Management System</a:t>
            </a:r>
          </a:p>
        </p:txBody>
      </p:sp>
      <p:sp>
        <p:nvSpPr>
          <p:cNvPr id="3" name="Subtitle 2"/>
          <p:cNvSpPr>
            <a:spLocks noGrp="1"/>
          </p:cNvSpPr>
          <p:nvPr>
            <p:ph type="subTitle" idx="1"/>
          </p:nvPr>
        </p:nvSpPr>
        <p:spPr>
          <a:xfrm>
            <a:off x="6469409" y="4036260"/>
            <a:ext cx="5062808" cy="2442896"/>
          </a:xfrm>
        </p:spPr>
        <p:txBody>
          <a:bodyPr vert="horz" lIns="91440" tIns="45720" rIns="91440" bIns="45720" rtlCol="0" anchor="t">
            <a:noAutofit/>
          </a:bodyPr>
          <a:lstStyle/>
          <a:p>
            <a:pPr>
              <a:lnSpc>
                <a:spcPct val="100000"/>
              </a:lnSpc>
            </a:pPr>
            <a:r>
              <a:rPr lang="en-US" sz="1800" b="1" dirty="0">
                <a:solidFill>
                  <a:schemeClr val="bg1">
                    <a:lumMod val="76000"/>
                    <a:lumOff val="24000"/>
                  </a:schemeClr>
                </a:solidFill>
                <a:latin typeface="Seaford"/>
              </a:rPr>
              <a:t>Presented By:</a:t>
            </a:r>
          </a:p>
          <a:p>
            <a:pPr>
              <a:lnSpc>
                <a:spcPct val="100000"/>
              </a:lnSpc>
            </a:pPr>
            <a:r>
              <a:rPr lang="en-US" sz="1800" b="1" dirty="0">
                <a:solidFill>
                  <a:schemeClr val="bg1">
                    <a:lumMod val="76000"/>
                    <a:lumOff val="24000"/>
                  </a:schemeClr>
                </a:solidFill>
                <a:latin typeface="Seaford"/>
              </a:rPr>
              <a:t>                   Venkatesh (24B11CS191)</a:t>
            </a:r>
            <a:endParaRPr lang="en-US" sz="1800">
              <a:solidFill>
                <a:schemeClr val="bg1">
                  <a:lumMod val="76000"/>
                  <a:lumOff val="24000"/>
                </a:schemeClr>
              </a:solidFill>
              <a:latin typeface="Seaford"/>
            </a:endParaRPr>
          </a:p>
          <a:p>
            <a:pPr>
              <a:lnSpc>
                <a:spcPct val="100000"/>
              </a:lnSpc>
            </a:pPr>
            <a:r>
              <a:rPr lang="en-US" sz="1800" b="1" dirty="0">
                <a:solidFill>
                  <a:schemeClr val="bg1">
                    <a:lumMod val="76000"/>
                    <a:lumOff val="24000"/>
                  </a:schemeClr>
                </a:solidFill>
                <a:latin typeface="Seaford"/>
              </a:rPr>
              <a:t>                   Chaitanya(24B11CS027)</a:t>
            </a:r>
            <a:endParaRPr lang="en-US" sz="1800">
              <a:solidFill>
                <a:schemeClr val="bg1">
                  <a:lumMod val="76000"/>
                  <a:lumOff val="24000"/>
                </a:schemeClr>
              </a:solidFill>
              <a:latin typeface="Seaford"/>
            </a:endParaRPr>
          </a:p>
          <a:p>
            <a:pPr>
              <a:lnSpc>
                <a:spcPct val="100000"/>
              </a:lnSpc>
            </a:pPr>
            <a:r>
              <a:rPr lang="en-US" sz="1800" b="1" dirty="0">
                <a:solidFill>
                  <a:schemeClr val="bg1">
                    <a:lumMod val="76000"/>
                    <a:lumOff val="24000"/>
                  </a:schemeClr>
                </a:solidFill>
                <a:latin typeface="Seaford"/>
              </a:rPr>
              <a:t>                   Rupesh  (24B11CS210)</a:t>
            </a:r>
            <a:endParaRPr lang="en-US" sz="1800">
              <a:solidFill>
                <a:schemeClr val="bg1">
                  <a:lumMod val="76000"/>
                  <a:lumOff val="24000"/>
                </a:schemeClr>
              </a:solidFill>
              <a:latin typeface="Seaford"/>
            </a:endParaRPr>
          </a:p>
          <a:p>
            <a:pPr>
              <a:lnSpc>
                <a:spcPct val="100000"/>
              </a:lnSpc>
            </a:pPr>
            <a:r>
              <a:rPr lang="en-US" sz="1800" b="1" dirty="0">
                <a:solidFill>
                  <a:schemeClr val="bg1">
                    <a:lumMod val="76000"/>
                    <a:lumOff val="24000"/>
                  </a:schemeClr>
                </a:solidFill>
                <a:latin typeface="Seaford"/>
              </a:rPr>
              <a:t>                   </a:t>
            </a:r>
            <a:r>
              <a:rPr lang="en-US" sz="1800" b="1" err="1">
                <a:solidFill>
                  <a:schemeClr val="bg1">
                    <a:lumMod val="76000"/>
                    <a:lumOff val="24000"/>
                  </a:schemeClr>
                </a:solidFill>
                <a:latin typeface="Seaford"/>
              </a:rPr>
              <a:t>Jashuva</a:t>
            </a:r>
            <a:r>
              <a:rPr lang="en-US" sz="1800" b="1" dirty="0">
                <a:solidFill>
                  <a:schemeClr val="bg1">
                    <a:lumMod val="76000"/>
                    <a:lumOff val="24000"/>
                  </a:schemeClr>
                </a:solidFill>
                <a:latin typeface="Seaford"/>
              </a:rPr>
              <a:t>(24B11CS105)</a:t>
            </a:r>
            <a:endParaRPr lang="en-US" sz="1800" dirty="0">
              <a:solidFill>
                <a:schemeClr val="bg1">
                  <a:lumMod val="76000"/>
                  <a:lumOff val="24000"/>
                </a:schemeClr>
              </a:solidFill>
              <a:latin typeface="Seaford"/>
            </a:endParaRPr>
          </a:p>
          <a:p>
            <a:pPr indent="-228600">
              <a:lnSpc>
                <a:spcPct val="100000"/>
              </a:lnSpc>
              <a:buFont typeface="Arial" panose="020B0604020202020204" pitchFamily="34" charset="0"/>
              <a:buChar char="•"/>
            </a:pPr>
            <a:endParaRPr lang="en-US" sz="500">
              <a:solidFill>
                <a:srgbClr val="FFFFFF"/>
              </a:solidFill>
            </a:endParaRPr>
          </a:p>
        </p:txBody>
      </p:sp>
      <p:cxnSp>
        <p:nvCxnSpPr>
          <p:cNvPr id="52" name="Straight Connector 5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B28840-5707-E092-75CB-D9AC46823994}"/>
              </a:ext>
            </a:extLst>
          </p:cNvPr>
          <p:cNvSpPr>
            <a:spLocks noGrp="1"/>
          </p:cNvSpPr>
          <p:nvPr>
            <p:ph type="title"/>
          </p:nvPr>
        </p:nvSpPr>
        <p:spPr>
          <a:xfrm>
            <a:off x="704088" y="914400"/>
            <a:ext cx="10798176" cy="1051914"/>
          </a:xfrm>
        </p:spPr>
        <p:txBody>
          <a:bodyPr>
            <a:normAutofit/>
          </a:bodyPr>
          <a:lstStyle/>
          <a:p>
            <a:r>
              <a:rPr lang="en-US" dirty="0"/>
              <a:t>ROLES</a:t>
            </a:r>
          </a:p>
        </p:txBody>
      </p:sp>
      <p:cxnSp>
        <p:nvCxnSpPr>
          <p:cNvPr id="37" name="Straight Connector 36">
            <a:extLst>
              <a:ext uri="{FF2B5EF4-FFF2-40B4-BE49-F238E27FC236}">
                <a16:creationId xmlns:a16="http://schemas.microsoft.com/office/drawing/2014/main" id="{9BB96FAB-CCBF-4D1E-9D0D-B038ACC29B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58733E2-EBBE-7295-3C00-CD1522AC6413}"/>
              </a:ext>
            </a:extLst>
          </p:cNvPr>
          <p:cNvGraphicFramePr>
            <a:graphicFrameLocks noGrp="1"/>
          </p:cNvGraphicFramePr>
          <p:nvPr>
            <p:ph idx="1"/>
            <p:extLst>
              <p:ext uri="{D42A27DB-BD31-4B8C-83A1-F6EECF244321}">
                <p14:modId xmlns:p14="http://schemas.microsoft.com/office/powerpoint/2010/main" val="3339015032"/>
              </p:ext>
            </p:extLst>
          </p:nvPr>
        </p:nvGraphicFramePr>
        <p:xfrm>
          <a:off x="800100" y="2276474"/>
          <a:ext cx="10629900" cy="38576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8505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dirty="0"/>
          </a:p>
        </p:txBody>
      </p:sp>
      <p:sp>
        <p:nvSpPr>
          <p:cNvPr id="2" name="Title 1">
            <a:extLst>
              <a:ext uri="{FF2B5EF4-FFF2-40B4-BE49-F238E27FC236}">
                <a16:creationId xmlns:a16="http://schemas.microsoft.com/office/drawing/2014/main" id="{7FA2DC6B-06EB-3BC5-CB16-7D40401F0444}"/>
              </a:ext>
            </a:extLst>
          </p:cNvPr>
          <p:cNvSpPr>
            <a:spLocks noGrp="1"/>
          </p:cNvSpPr>
          <p:nvPr>
            <p:ph type="title"/>
          </p:nvPr>
        </p:nvSpPr>
        <p:spPr>
          <a:xfrm>
            <a:off x="5248656" y="914400"/>
            <a:ext cx="6236208" cy="703743"/>
          </a:xfrm>
        </p:spPr>
        <p:txBody>
          <a:bodyPr>
            <a:normAutofit/>
          </a:bodyPr>
          <a:lstStyle/>
          <a:p>
            <a:r>
              <a:rPr lang="en-US" dirty="0"/>
              <a:t>Problem statement</a:t>
            </a:r>
          </a:p>
        </p:txBody>
      </p:sp>
      <p:pic>
        <p:nvPicPr>
          <p:cNvPr id="5" name="Picture 4" descr="Books stacked on a table">
            <a:extLst>
              <a:ext uri="{FF2B5EF4-FFF2-40B4-BE49-F238E27FC236}">
                <a16:creationId xmlns:a16="http://schemas.microsoft.com/office/drawing/2014/main" id="{77608389-D9CC-2C48-2704-BECD1B369305}"/>
              </a:ext>
            </a:extLst>
          </p:cNvPr>
          <p:cNvPicPr>
            <a:picLocks noChangeAspect="1"/>
          </p:cNvPicPr>
          <p:nvPr/>
        </p:nvPicPr>
        <p:blipFill>
          <a:blip r:embed="rId2"/>
          <a:srcRect l="28056" r="26554" b="-2"/>
          <a:stretch>
            <a:fillRect/>
          </a:stretch>
        </p:blipFill>
        <p:spPr>
          <a:xfrm>
            <a:off x="20" y="-1"/>
            <a:ext cx="4663420" cy="6858001"/>
          </a:xfrm>
          <a:prstGeom prst="rect">
            <a:avLst/>
          </a:prstGeom>
        </p:spPr>
      </p:pic>
      <p:cxnSp>
        <p:nvCxnSpPr>
          <p:cNvPr id="20" name="Straight Connector 19">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72ADE30-8247-B852-64E4-6499621E0CC7}"/>
              </a:ext>
            </a:extLst>
          </p:cNvPr>
          <p:cNvSpPr>
            <a:spLocks noGrp="1"/>
          </p:cNvSpPr>
          <p:nvPr>
            <p:ph idx="1"/>
          </p:nvPr>
        </p:nvSpPr>
        <p:spPr>
          <a:xfrm>
            <a:off x="5248656" y="1905690"/>
            <a:ext cx="6236208" cy="4257366"/>
          </a:xfrm>
        </p:spPr>
        <p:txBody>
          <a:bodyPr vert="horz" lIns="91440" tIns="45720" rIns="91440" bIns="45720" rtlCol="0" anchor="t">
            <a:normAutofit/>
          </a:bodyPr>
          <a:lstStyle/>
          <a:p>
            <a:r>
              <a:rPr lang="en-IN" sz="2100" dirty="0">
                <a:latin typeface="Times New Roman"/>
                <a:cs typeface="Times New Roman"/>
              </a:rPr>
              <a:t>In many organizations, library information is maintained manually using paper records or spreadsheets. This leads to:</a:t>
            </a:r>
            <a:endParaRPr lang="en-US" sz="2100" dirty="0"/>
          </a:p>
          <a:p>
            <a:r>
              <a:rPr lang="en-IN" sz="2100" dirty="0">
                <a:latin typeface="Times New Roman"/>
                <a:cs typeface="Times New Roman"/>
              </a:rPr>
              <a:t>Data redundancy</a:t>
            </a:r>
            <a:endParaRPr lang="en-US" sz="2100" dirty="0"/>
          </a:p>
          <a:p>
            <a:r>
              <a:rPr lang="en-IN" sz="2100" dirty="0">
                <a:latin typeface="Times New Roman"/>
                <a:cs typeface="Times New Roman"/>
              </a:rPr>
              <a:t>Difficulty in searching records</a:t>
            </a:r>
            <a:endParaRPr lang="en-US" sz="2100"/>
          </a:p>
          <a:p>
            <a:r>
              <a:rPr lang="en-IN" sz="2100" dirty="0">
                <a:latin typeface="Times New Roman"/>
                <a:cs typeface="Times New Roman"/>
              </a:rPr>
              <a:t>Time-consuming updates</a:t>
            </a:r>
            <a:endParaRPr lang="en-US" sz="2100"/>
          </a:p>
          <a:p>
            <a:r>
              <a:rPr lang="en-IN" sz="2100" dirty="0">
                <a:latin typeface="Times New Roman"/>
                <a:cs typeface="Times New Roman"/>
              </a:rPr>
              <a:t>Risk of data loss</a:t>
            </a:r>
            <a:endParaRPr lang="en-US" sz="2100"/>
          </a:p>
          <a:p>
            <a:r>
              <a:rPr lang="en-IN" sz="2100" dirty="0">
                <a:latin typeface="Times New Roman"/>
                <a:cs typeface="Times New Roman"/>
              </a:rPr>
              <a:t>Therefore, there is a need for an automated system to manage books records efficiently.</a:t>
            </a:r>
            <a:endParaRPr lang="en-US" sz="2100" dirty="0"/>
          </a:p>
          <a:p>
            <a:endParaRPr lang="en-US"/>
          </a:p>
          <a:p>
            <a:endParaRPr lang="en-US" dirty="0"/>
          </a:p>
        </p:txBody>
      </p:sp>
    </p:spTree>
    <p:extLst>
      <p:ext uri="{BB962C8B-B14F-4D97-AF65-F5344CB8AC3E}">
        <p14:creationId xmlns:p14="http://schemas.microsoft.com/office/powerpoint/2010/main" val="186600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AC222E-72D2-F8F8-716F-887416A3DB8D}"/>
              </a:ext>
            </a:extLst>
          </p:cNvPr>
          <p:cNvSpPr>
            <a:spLocks noGrp="1"/>
          </p:cNvSpPr>
          <p:nvPr>
            <p:ph type="title"/>
          </p:nvPr>
        </p:nvSpPr>
        <p:spPr>
          <a:xfrm>
            <a:off x="704088" y="914400"/>
            <a:ext cx="6001512" cy="804385"/>
          </a:xfrm>
        </p:spPr>
        <p:txBody>
          <a:bodyPr>
            <a:normAutofit/>
          </a:bodyPr>
          <a:lstStyle/>
          <a:p>
            <a:r>
              <a:rPr lang="en-US" dirty="0"/>
              <a:t>OBJECTIVE</a:t>
            </a:r>
          </a:p>
        </p:txBody>
      </p:sp>
      <p:cxnSp>
        <p:nvCxnSpPr>
          <p:cNvPr id="12" name="Straight Connector 11">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2FBFDE5-4EF4-DF99-7C9C-379023C9170A}"/>
              </a:ext>
            </a:extLst>
          </p:cNvPr>
          <p:cNvSpPr>
            <a:spLocks noGrp="1"/>
          </p:cNvSpPr>
          <p:nvPr>
            <p:ph idx="1"/>
          </p:nvPr>
        </p:nvSpPr>
        <p:spPr>
          <a:xfrm>
            <a:off x="704088" y="1713552"/>
            <a:ext cx="6001512" cy="4435127"/>
          </a:xfrm>
        </p:spPr>
        <p:txBody>
          <a:bodyPr vert="horz" lIns="91440" tIns="45720" rIns="91440" bIns="45720" rtlCol="0" anchor="t">
            <a:normAutofit/>
          </a:bodyPr>
          <a:lstStyle/>
          <a:p>
            <a:pPr>
              <a:lnSpc>
                <a:spcPct val="100000"/>
              </a:lnSpc>
            </a:pPr>
            <a:endParaRPr lang="en-US" dirty="0"/>
          </a:p>
          <a:p>
            <a:pPr>
              <a:lnSpc>
                <a:spcPct val="100000"/>
              </a:lnSpc>
            </a:pPr>
            <a:r>
              <a:rPr lang="en-IN" dirty="0">
                <a:latin typeface="Times New Roman"/>
                <a:cs typeface="Times New Roman"/>
              </a:rPr>
              <a:t>The main objectives of the project are:</a:t>
            </a:r>
            <a:endParaRPr lang="en-US" dirty="0"/>
          </a:p>
          <a:p>
            <a:pPr>
              <a:lnSpc>
                <a:spcPct val="100000"/>
              </a:lnSpc>
            </a:pPr>
            <a:r>
              <a:rPr lang="en-IN" dirty="0">
                <a:latin typeface="Times New Roman"/>
                <a:cs typeface="Times New Roman"/>
              </a:rPr>
              <a:t>To store library books information in a database</a:t>
            </a:r>
            <a:endParaRPr lang="en-US" dirty="0"/>
          </a:p>
          <a:p>
            <a:pPr>
              <a:lnSpc>
                <a:spcPct val="100000"/>
              </a:lnSpc>
            </a:pPr>
            <a:r>
              <a:rPr lang="en-IN" dirty="0">
                <a:latin typeface="Times New Roman"/>
                <a:cs typeface="Times New Roman"/>
              </a:rPr>
              <a:t>To add new books</a:t>
            </a:r>
            <a:endParaRPr lang="en-US" dirty="0"/>
          </a:p>
          <a:p>
            <a:pPr>
              <a:lnSpc>
                <a:spcPct val="100000"/>
              </a:lnSpc>
            </a:pPr>
            <a:r>
              <a:rPr lang="en-IN" dirty="0">
                <a:latin typeface="Times New Roman"/>
                <a:cs typeface="Times New Roman"/>
              </a:rPr>
              <a:t>To update/ delete  existing admin details.</a:t>
            </a:r>
            <a:endParaRPr lang="en-US" dirty="0"/>
          </a:p>
          <a:p>
            <a:pPr>
              <a:lnSpc>
                <a:spcPct val="100000"/>
              </a:lnSpc>
            </a:pPr>
            <a:r>
              <a:rPr lang="en-IN" dirty="0">
                <a:latin typeface="Times New Roman"/>
                <a:cs typeface="Times New Roman"/>
              </a:rPr>
              <a:t>To delete  or edit existing books</a:t>
            </a:r>
            <a:endParaRPr lang="en-US" dirty="0"/>
          </a:p>
          <a:p>
            <a:pPr>
              <a:lnSpc>
                <a:spcPct val="100000"/>
              </a:lnSpc>
            </a:pPr>
            <a:r>
              <a:rPr lang="en-IN" dirty="0">
                <a:latin typeface="Times New Roman"/>
                <a:cs typeface="Times New Roman"/>
              </a:rPr>
              <a:t>To display books  information in an easy-to-use interface</a:t>
            </a:r>
            <a:endParaRPr lang="en-US" dirty="0"/>
          </a:p>
          <a:p>
            <a:pPr>
              <a:lnSpc>
                <a:spcPct val="100000"/>
              </a:lnSpc>
            </a:pPr>
            <a:r>
              <a:rPr lang="en-IN" dirty="0">
                <a:latin typeface="Times New Roman"/>
                <a:cs typeface="Times New Roman"/>
              </a:rPr>
              <a:t>To add new staff</a:t>
            </a:r>
            <a:endParaRPr lang="en-US" dirty="0"/>
          </a:p>
          <a:p>
            <a:pPr>
              <a:lnSpc>
                <a:spcPct val="100000"/>
              </a:lnSpc>
            </a:pPr>
            <a:r>
              <a:rPr lang="en-IN" dirty="0">
                <a:latin typeface="Times New Roman"/>
                <a:cs typeface="Times New Roman"/>
              </a:rPr>
              <a:t>To delete/ edit  existing staff details</a:t>
            </a:r>
            <a:endParaRPr lang="en-US" dirty="0"/>
          </a:p>
          <a:p>
            <a:pPr>
              <a:lnSpc>
                <a:spcPct val="100000"/>
              </a:lnSpc>
            </a:pPr>
            <a:endParaRPr lang="en-US" sz="1900"/>
          </a:p>
        </p:txBody>
      </p:sp>
      <p:pic>
        <p:nvPicPr>
          <p:cNvPr id="7" name="Graphic 6" descr="Books">
            <a:extLst>
              <a:ext uri="{FF2B5EF4-FFF2-40B4-BE49-F238E27FC236}">
                <a16:creationId xmlns:a16="http://schemas.microsoft.com/office/drawing/2014/main" id="{DA4B2012-E5B9-7EF5-B002-09581D070A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74560" y="1951854"/>
            <a:ext cx="4202057" cy="4202057"/>
          </a:xfrm>
          <a:prstGeom prst="rect">
            <a:avLst/>
          </a:prstGeom>
        </p:spPr>
      </p:pic>
    </p:spTree>
    <p:extLst>
      <p:ext uri="{BB962C8B-B14F-4D97-AF65-F5344CB8AC3E}">
        <p14:creationId xmlns:p14="http://schemas.microsoft.com/office/powerpoint/2010/main" val="348325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25A50A-7593-4B20-37C7-D225A1554170}"/>
              </a:ext>
            </a:extLst>
          </p:cNvPr>
          <p:cNvSpPr>
            <a:spLocks noGrp="1"/>
          </p:cNvSpPr>
          <p:nvPr>
            <p:ph type="title"/>
          </p:nvPr>
        </p:nvSpPr>
        <p:spPr>
          <a:xfrm>
            <a:off x="5248656" y="914400"/>
            <a:ext cx="6236208" cy="674989"/>
          </a:xfrm>
        </p:spPr>
        <p:txBody>
          <a:bodyPr>
            <a:normAutofit fontScale="90000"/>
          </a:bodyPr>
          <a:lstStyle/>
          <a:p>
            <a:r>
              <a:rPr lang="en-US" dirty="0"/>
              <a:t>Modules</a:t>
            </a:r>
          </a:p>
        </p:txBody>
      </p:sp>
      <p:pic>
        <p:nvPicPr>
          <p:cNvPr id="20" name="Picture 19" descr="Books on a table">
            <a:extLst>
              <a:ext uri="{FF2B5EF4-FFF2-40B4-BE49-F238E27FC236}">
                <a16:creationId xmlns:a16="http://schemas.microsoft.com/office/drawing/2014/main" id="{E70B11DE-D921-CC70-6F0D-3A14D21F1CE9}"/>
              </a:ext>
            </a:extLst>
          </p:cNvPr>
          <p:cNvPicPr>
            <a:picLocks noChangeAspect="1"/>
          </p:cNvPicPr>
          <p:nvPr/>
        </p:nvPicPr>
        <p:blipFill>
          <a:blip r:embed="rId2"/>
          <a:srcRect l="44919" r="9690" b="-2"/>
          <a:stretch>
            <a:fillRect/>
          </a:stretch>
        </p:blipFill>
        <p:spPr>
          <a:xfrm>
            <a:off x="20" y="-1"/>
            <a:ext cx="4663420" cy="6858001"/>
          </a:xfrm>
          <a:prstGeom prst="rect">
            <a:avLst/>
          </a:prstGeom>
        </p:spPr>
      </p:pic>
      <p:cxnSp>
        <p:nvCxnSpPr>
          <p:cNvPr id="46" name="Straight Connector 4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8165849-13E3-01D1-1AB2-3408BBDAD34B}"/>
              </a:ext>
            </a:extLst>
          </p:cNvPr>
          <p:cNvSpPr>
            <a:spLocks noGrp="1"/>
          </p:cNvSpPr>
          <p:nvPr>
            <p:ph idx="1"/>
          </p:nvPr>
        </p:nvSpPr>
        <p:spPr>
          <a:xfrm>
            <a:off x="5248656" y="1589389"/>
            <a:ext cx="6236208" cy="4573667"/>
          </a:xfrm>
        </p:spPr>
        <p:txBody>
          <a:bodyPr vert="horz" lIns="91440" tIns="45720" rIns="91440" bIns="45720" rtlCol="0" anchor="t">
            <a:normAutofit/>
          </a:bodyPr>
          <a:lstStyle/>
          <a:p>
            <a:pPr marL="342900" indent="-342900">
              <a:lnSpc>
                <a:spcPct val="100000"/>
              </a:lnSpc>
              <a:buAutoNum type="arabicParenR"/>
            </a:pPr>
            <a:r>
              <a:rPr lang="en-IN" sz="1800" b="1" dirty="0">
                <a:latin typeface="Times New Roman"/>
                <a:cs typeface="Times New Roman"/>
              </a:rPr>
              <a:t>Admin Management Module</a:t>
            </a:r>
            <a:endParaRPr lang="en-US" sz="1800" dirty="0"/>
          </a:p>
          <a:p>
            <a:pPr marL="0" indent="0">
              <a:lnSpc>
                <a:spcPct val="100000"/>
              </a:lnSpc>
              <a:buNone/>
            </a:pPr>
            <a:r>
              <a:rPr lang="en-IN" sz="1800" dirty="0">
                <a:latin typeface="Times New Roman"/>
                <a:cs typeface="Times New Roman"/>
              </a:rPr>
              <a:t>  This module manages admin information in the database. It  allows the admin to login into his account and can access details of library books, staff . It allows admin to add new books, edit and remove existing books. It performs database operations such as insert, update, delete, and select.</a:t>
            </a:r>
            <a:endParaRPr lang="en-US" sz="1800" dirty="0"/>
          </a:p>
          <a:p>
            <a:pPr marL="0" indent="0">
              <a:lnSpc>
                <a:spcPct val="100000"/>
              </a:lnSpc>
              <a:buNone/>
            </a:pPr>
            <a:r>
              <a:rPr lang="en-IN" sz="1800" b="1" dirty="0">
                <a:latin typeface="Times New Roman"/>
                <a:cs typeface="Times New Roman"/>
              </a:rPr>
              <a:t>2) Books Management Module</a:t>
            </a:r>
            <a:endParaRPr lang="en-US" sz="1800" dirty="0"/>
          </a:p>
          <a:p>
            <a:pPr marL="0" indent="0">
              <a:lnSpc>
                <a:spcPct val="100000"/>
              </a:lnSpc>
              <a:buNone/>
            </a:pPr>
            <a:r>
              <a:rPr lang="en-IN" sz="1800" dirty="0">
                <a:latin typeface="Times New Roman"/>
                <a:cs typeface="Times New Roman"/>
              </a:rPr>
              <a:t>This module manages books information available in library. It stores every books by a ID. It allows user to add new books, delete and edit  existing books. </a:t>
            </a:r>
            <a:endParaRPr lang="en-US" sz="1800" dirty="0"/>
          </a:p>
          <a:p>
            <a:pPr marL="0" indent="0">
              <a:lnSpc>
                <a:spcPct val="100000"/>
              </a:lnSpc>
              <a:buNone/>
            </a:pPr>
            <a:r>
              <a:rPr lang="en-IN" sz="1800" b="1" dirty="0">
                <a:latin typeface="Times New Roman"/>
                <a:cs typeface="Times New Roman"/>
              </a:rPr>
              <a:t>3)  Staff Management Module</a:t>
            </a:r>
            <a:endParaRPr lang="en-IN" sz="1800" dirty="0">
              <a:latin typeface="Times New Roman"/>
              <a:cs typeface="Times New Roman"/>
            </a:endParaRPr>
          </a:p>
          <a:p>
            <a:pPr>
              <a:lnSpc>
                <a:spcPct val="100000"/>
              </a:lnSpc>
              <a:buAutoNum type="arabicParenR"/>
            </a:pPr>
            <a:r>
              <a:rPr lang="en-IN" sz="1800" dirty="0">
                <a:latin typeface="Times New Roman"/>
                <a:cs typeface="Times New Roman"/>
              </a:rPr>
              <a:t>This module manages all staff members details. I allows admin to add new staff, remove and delete existing staff details.</a:t>
            </a:r>
            <a:endParaRPr lang="en-IN" sz="1800" dirty="0"/>
          </a:p>
          <a:p>
            <a:pPr>
              <a:lnSpc>
                <a:spcPct val="100000"/>
              </a:lnSpc>
              <a:buAutoNum type="arabicParenR"/>
            </a:pPr>
            <a:endParaRPr lang="en-IN" sz="1600">
              <a:latin typeface="Times New Roman"/>
              <a:cs typeface="Times New Roman"/>
            </a:endParaRPr>
          </a:p>
          <a:p>
            <a:pPr>
              <a:lnSpc>
                <a:spcPct val="100000"/>
              </a:lnSpc>
              <a:buAutoNum type="arabicParenR"/>
            </a:pPr>
            <a:endParaRPr lang="en-US" sz="1600"/>
          </a:p>
        </p:txBody>
      </p:sp>
    </p:spTree>
    <p:extLst>
      <p:ext uri="{BB962C8B-B14F-4D97-AF65-F5344CB8AC3E}">
        <p14:creationId xmlns:p14="http://schemas.microsoft.com/office/powerpoint/2010/main" val="921672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AA2B25-3F92-099C-352E-DC0FBF47BFE0}"/>
              </a:ext>
            </a:extLst>
          </p:cNvPr>
          <p:cNvSpPr>
            <a:spLocks noGrp="1"/>
          </p:cNvSpPr>
          <p:nvPr>
            <p:ph idx="1"/>
          </p:nvPr>
        </p:nvSpPr>
        <p:spPr>
          <a:xfrm>
            <a:off x="700635" y="928030"/>
            <a:ext cx="10691265" cy="5033858"/>
          </a:xfrm>
        </p:spPr>
        <p:txBody>
          <a:bodyPr vert="horz" lIns="91440" tIns="45720" rIns="91440" bIns="45720" rtlCol="0" anchor="t">
            <a:normAutofit fontScale="92500" lnSpcReduction="10000"/>
          </a:bodyPr>
          <a:lstStyle/>
          <a:p>
            <a:pPr algn="just">
              <a:buNone/>
            </a:pPr>
            <a:r>
              <a:rPr lang="en-IN" b="1" dirty="0">
                <a:latin typeface="Times New Roman"/>
                <a:cs typeface="Times New Roman"/>
              </a:rPr>
              <a:t>4. Search Module</a:t>
            </a:r>
            <a:endParaRPr lang="en-US" dirty="0"/>
          </a:p>
          <a:p>
            <a:pPr algn="just">
              <a:buNone/>
            </a:pPr>
            <a:r>
              <a:rPr lang="en-IN" dirty="0">
                <a:latin typeface="Times New Roman"/>
                <a:cs typeface="Times New Roman"/>
              </a:rPr>
              <a:t>This module allows the user to search for books information using Book ID or Author Name or Book Name. It retrieves the required book details from the database and displays them to the user/admin.</a:t>
            </a:r>
            <a:endParaRPr lang="en-US" dirty="0"/>
          </a:p>
          <a:p>
            <a:pPr algn="just">
              <a:buNone/>
            </a:pPr>
            <a:r>
              <a:rPr lang="en-IN" b="1" dirty="0">
                <a:latin typeface="Times New Roman"/>
                <a:cs typeface="Times New Roman"/>
              </a:rPr>
              <a:t>5 Database Connectivity Module</a:t>
            </a:r>
            <a:endParaRPr lang="en-US" dirty="0"/>
          </a:p>
          <a:p>
            <a:pPr algn="just">
              <a:buNone/>
            </a:pPr>
            <a:r>
              <a:rPr lang="en-IN" dirty="0">
                <a:latin typeface="Times New Roman"/>
                <a:cs typeface="Times New Roman"/>
              </a:rPr>
              <a:t>This module connects the Apache </a:t>
            </a:r>
            <a:r>
              <a:rPr lang="en-IN" dirty="0" err="1">
                <a:latin typeface="Times New Roman"/>
                <a:cs typeface="Times New Roman"/>
              </a:rPr>
              <a:t>Netbeans</a:t>
            </a:r>
            <a:r>
              <a:rPr lang="en-IN" dirty="0">
                <a:latin typeface="Times New Roman"/>
                <a:cs typeface="Times New Roman"/>
              </a:rPr>
              <a:t> application to the MySQL database using My SQL Connector. It is responsible for establishing database connection, executing SQL queries, retrieving data, and closing the connection.</a:t>
            </a:r>
            <a:endParaRPr lang="en-US" dirty="0"/>
          </a:p>
          <a:p>
            <a:pPr algn="just">
              <a:buNone/>
            </a:pPr>
            <a:r>
              <a:rPr lang="en-IN" b="1" dirty="0">
                <a:latin typeface="Times New Roman"/>
                <a:cs typeface="Times New Roman"/>
              </a:rPr>
              <a:t>6. User Interface Module</a:t>
            </a:r>
            <a:endParaRPr lang="en-US" dirty="0"/>
          </a:p>
          <a:p>
            <a:pPr algn="just">
              <a:buNone/>
            </a:pPr>
            <a:r>
              <a:rPr lang="en-IN" dirty="0">
                <a:latin typeface="Times New Roman"/>
                <a:cs typeface="Times New Roman"/>
              </a:rPr>
              <a:t>This module provides the graphical user interface (GUI) using Java Swing. It allows the user to interact with the system by entering admin details, performing operations, and viewing results.</a:t>
            </a:r>
            <a:endParaRPr lang="en-US" dirty="0"/>
          </a:p>
          <a:p>
            <a:pPr algn="just">
              <a:buNone/>
            </a:pPr>
            <a:r>
              <a:rPr lang="en-IN" b="1" dirty="0">
                <a:latin typeface="Times New Roman"/>
                <a:cs typeface="Times New Roman"/>
              </a:rPr>
              <a:t>7. Display Module</a:t>
            </a:r>
            <a:endParaRPr lang="en-US" dirty="0"/>
          </a:p>
          <a:p>
            <a:pPr algn="just">
              <a:buNone/>
            </a:pPr>
            <a:r>
              <a:rPr lang="en-IN" dirty="0">
                <a:latin typeface="Times New Roman"/>
                <a:cs typeface="Times New Roman"/>
              </a:rPr>
              <a:t>This module displays books , staff and admin information in a structured format, usually in a table. It retrieves data from the database and presents it clearly for easy understanding.</a:t>
            </a:r>
            <a:endParaRPr lang="en-US" dirty="0"/>
          </a:p>
          <a:p>
            <a:pPr marL="0" indent="0">
              <a:buNone/>
            </a:pPr>
            <a:endParaRPr lang="en-US" dirty="0"/>
          </a:p>
        </p:txBody>
      </p:sp>
    </p:spTree>
    <p:extLst>
      <p:ext uri="{BB962C8B-B14F-4D97-AF65-F5344CB8AC3E}">
        <p14:creationId xmlns:p14="http://schemas.microsoft.com/office/powerpoint/2010/main" val="1269965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FCBE6-766B-C30B-E81D-7218F53A69B6}"/>
              </a:ext>
            </a:extLst>
          </p:cNvPr>
          <p:cNvSpPr>
            <a:spLocks noGrp="1"/>
          </p:cNvSpPr>
          <p:nvPr>
            <p:ph type="title"/>
          </p:nvPr>
        </p:nvSpPr>
        <p:spPr>
          <a:xfrm>
            <a:off x="700635" y="914400"/>
            <a:ext cx="10691265" cy="804385"/>
          </a:xfrm>
        </p:spPr>
        <p:txBody>
          <a:bodyPr/>
          <a:lstStyle/>
          <a:p>
            <a:r>
              <a:rPr lang="en-US" dirty="0"/>
              <a:t>DATABASE</a:t>
            </a:r>
          </a:p>
        </p:txBody>
      </p:sp>
      <p:sp>
        <p:nvSpPr>
          <p:cNvPr id="3" name="Content Placeholder 2">
            <a:extLst>
              <a:ext uri="{FF2B5EF4-FFF2-40B4-BE49-F238E27FC236}">
                <a16:creationId xmlns:a16="http://schemas.microsoft.com/office/drawing/2014/main" id="{330E6159-E9CF-9B76-264C-0E8682D1D3D4}"/>
              </a:ext>
            </a:extLst>
          </p:cNvPr>
          <p:cNvSpPr>
            <a:spLocks noGrp="1"/>
          </p:cNvSpPr>
          <p:nvPr>
            <p:ph idx="1"/>
          </p:nvPr>
        </p:nvSpPr>
        <p:spPr>
          <a:xfrm>
            <a:off x="700635" y="1718785"/>
            <a:ext cx="10691265" cy="4243103"/>
          </a:xfrm>
        </p:spPr>
        <p:txBody>
          <a:bodyPr vert="horz" lIns="91440" tIns="45720" rIns="91440" bIns="45720" rtlCol="0" anchor="t">
            <a:normAutofit/>
          </a:bodyPr>
          <a:lstStyle/>
          <a:p>
            <a:pPr marL="0" indent="0">
              <a:buNone/>
            </a:pPr>
            <a:r>
              <a:rPr lang="en-IN" dirty="0">
                <a:latin typeface="Times New Roman"/>
                <a:cs typeface="Times New Roman"/>
              </a:rPr>
              <a:t>The database is designed using the </a:t>
            </a:r>
            <a:r>
              <a:rPr lang="en-IN" b="1" dirty="0">
                <a:latin typeface="Times New Roman"/>
                <a:cs typeface="Times New Roman"/>
              </a:rPr>
              <a:t>Relational Database Model</a:t>
            </a:r>
            <a:r>
              <a:rPr lang="en-IN" dirty="0">
                <a:latin typeface="Times New Roman"/>
                <a:cs typeface="Times New Roman"/>
              </a:rPr>
              <a:t> and implemented using </a:t>
            </a:r>
            <a:r>
              <a:rPr lang="en-IN" b="1" dirty="0">
                <a:latin typeface="Times New Roman"/>
                <a:cs typeface="Times New Roman"/>
              </a:rPr>
              <a:t>MySQL  Database</a:t>
            </a:r>
            <a:r>
              <a:rPr lang="en-IN" dirty="0">
                <a:latin typeface="Times New Roman"/>
                <a:cs typeface="Times New Roman"/>
              </a:rPr>
              <a:t>.</a:t>
            </a:r>
            <a:endParaRPr lang="en-US" dirty="0"/>
          </a:p>
          <a:p>
            <a:pPr marL="457200" indent="-457200">
              <a:buAutoNum type="arabicParenR"/>
            </a:pPr>
            <a:r>
              <a:rPr lang="en-IN" b="1" dirty="0">
                <a:latin typeface="Times New Roman"/>
                <a:cs typeface="Times New Roman"/>
              </a:rPr>
              <a:t>Admin Table:</a:t>
            </a:r>
            <a:endParaRPr lang="en-IN" dirty="0"/>
          </a:p>
          <a:p>
            <a:pPr indent="0">
              <a:buNone/>
            </a:pPr>
            <a:r>
              <a:rPr lang="en-IN" dirty="0">
                <a:latin typeface="Times New Roman"/>
                <a:cs typeface="Times New Roman"/>
              </a:rPr>
              <a:t>The Admin table stores information about admins who can access library details  in the organization.</a:t>
            </a:r>
            <a:endParaRPr lang="en-IN" dirty="0"/>
          </a:p>
          <a:p>
            <a:pPr marL="0" indent="0">
              <a:buNone/>
            </a:pPr>
            <a:r>
              <a:rPr lang="en-IN" dirty="0">
                <a:latin typeface="Times New Roman"/>
                <a:cs typeface="Times New Roman"/>
              </a:rPr>
              <a:t>     </a:t>
            </a:r>
            <a:r>
              <a:rPr lang="en-IN" dirty="0" err="1">
                <a:latin typeface="Times New Roman"/>
                <a:cs typeface="Times New Roman"/>
              </a:rPr>
              <a:t>User_ID</a:t>
            </a:r>
            <a:r>
              <a:rPr lang="en-IN" dirty="0">
                <a:latin typeface="Times New Roman"/>
                <a:cs typeface="Times New Roman"/>
              </a:rPr>
              <a:t> – Varchar(50)</a:t>
            </a:r>
          </a:p>
          <a:p>
            <a:pPr marL="0" indent="0">
              <a:buNone/>
            </a:pPr>
            <a:r>
              <a:rPr lang="en-IN" dirty="0">
                <a:latin typeface="Times New Roman"/>
                <a:cs typeface="Times New Roman"/>
              </a:rPr>
              <a:t>     Name – Varchar(50)</a:t>
            </a:r>
          </a:p>
          <a:p>
            <a:pPr marL="0" indent="0">
              <a:buNone/>
            </a:pPr>
            <a:r>
              <a:rPr lang="en-IN" dirty="0">
                <a:latin typeface="Times New Roman"/>
                <a:cs typeface="Times New Roman"/>
              </a:rPr>
              <a:t>     Password – Varchar(30)</a:t>
            </a:r>
          </a:p>
          <a:p>
            <a:pPr marL="0" indent="0">
              <a:buNone/>
            </a:pPr>
            <a:r>
              <a:rPr lang="en-IN" dirty="0">
                <a:latin typeface="Times New Roman"/>
                <a:cs typeface="Times New Roman"/>
              </a:rPr>
              <a:t>     Contact – Varchar(10)</a:t>
            </a:r>
          </a:p>
          <a:p>
            <a:pPr marL="0" indent="0">
              <a:buNone/>
            </a:pPr>
            <a:endParaRPr lang="en-IN" dirty="0">
              <a:latin typeface="Times New Roman"/>
              <a:cs typeface="Times New Roman"/>
            </a:endParaRPr>
          </a:p>
          <a:p>
            <a:pPr marL="457200" indent="-457200">
              <a:buAutoNum type="arabicParenR"/>
            </a:pPr>
            <a:endParaRPr lang="en-IN" dirty="0">
              <a:latin typeface="Times New Roman"/>
              <a:cs typeface="Times New Roman"/>
            </a:endParaRPr>
          </a:p>
          <a:p>
            <a:pPr>
              <a:buAutoNum type="arabicParenR"/>
            </a:pPr>
            <a:endParaRPr lang="en-US" dirty="0"/>
          </a:p>
        </p:txBody>
      </p:sp>
    </p:spTree>
    <p:extLst>
      <p:ext uri="{BB962C8B-B14F-4D97-AF65-F5344CB8AC3E}">
        <p14:creationId xmlns:p14="http://schemas.microsoft.com/office/powerpoint/2010/main" val="2748279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A00B2D-3FC3-B111-3913-31C14607422F}"/>
              </a:ext>
            </a:extLst>
          </p:cNvPr>
          <p:cNvSpPr>
            <a:spLocks noGrp="1"/>
          </p:cNvSpPr>
          <p:nvPr>
            <p:ph idx="1"/>
          </p:nvPr>
        </p:nvSpPr>
        <p:spPr>
          <a:xfrm>
            <a:off x="700635" y="1014294"/>
            <a:ext cx="10691265" cy="4947594"/>
          </a:xfrm>
        </p:spPr>
        <p:txBody>
          <a:bodyPr vert="horz" lIns="91440" tIns="45720" rIns="91440" bIns="45720" rtlCol="0" anchor="t">
            <a:normAutofit fontScale="85000" lnSpcReduction="20000"/>
          </a:bodyPr>
          <a:lstStyle/>
          <a:p>
            <a:pPr marL="0" indent="0">
              <a:buNone/>
            </a:pPr>
            <a:r>
              <a:rPr lang="en-IN" b="1" dirty="0">
                <a:latin typeface="Times New Roman"/>
                <a:cs typeface="Times New Roman"/>
              </a:rPr>
              <a:t>2) Book Table:</a:t>
            </a:r>
            <a:endParaRPr lang="en-US" dirty="0"/>
          </a:p>
          <a:p>
            <a:r>
              <a:rPr lang="en-IN" dirty="0">
                <a:latin typeface="Times New Roman"/>
                <a:cs typeface="Times New Roman"/>
              </a:rPr>
              <a:t>The Book table stores information about books available in library.</a:t>
            </a:r>
          </a:p>
          <a:p>
            <a:r>
              <a:rPr lang="en-IN" dirty="0" err="1">
                <a:latin typeface="Times New Roman"/>
                <a:cs typeface="Times New Roman"/>
              </a:rPr>
              <a:t>Book_ID</a:t>
            </a:r>
            <a:r>
              <a:rPr lang="en-IN" dirty="0">
                <a:latin typeface="Times New Roman"/>
                <a:cs typeface="Times New Roman"/>
              </a:rPr>
              <a:t> – Integer</a:t>
            </a:r>
          </a:p>
          <a:p>
            <a:r>
              <a:rPr lang="en-IN" dirty="0">
                <a:latin typeface="Times New Roman"/>
                <a:cs typeface="Times New Roman"/>
              </a:rPr>
              <a:t>Category – Varchar(50)</a:t>
            </a:r>
          </a:p>
          <a:p>
            <a:r>
              <a:rPr lang="en-IN" dirty="0">
                <a:latin typeface="Times New Roman"/>
                <a:cs typeface="Times New Roman"/>
              </a:rPr>
              <a:t>Name – Varchar(50)</a:t>
            </a:r>
          </a:p>
          <a:p>
            <a:r>
              <a:rPr lang="en-IN" dirty="0">
                <a:latin typeface="Times New Roman"/>
                <a:cs typeface="Times New Roman"/>
              </a:rPr>
              <a:t>Author – Varchar(50)</a:t>
            </a:r>
          </a:p>
          <a:p>
            <a:r>
              <a:rPr lang="en-IN" dirty="0">
                <a:latin typeface="Times New Roman"/>
                <a:cs typeface="Times New Roman"/>
              </a:rPr>
              <a:t>Copies – Integer</a:t>
            </a:r>
          </a:p>
          <a:p>
            <a:endParaRPr lang="en-IN" dirty="0">
              <a:latin typeface="Times New Roman"/>
              <a:cs typeface="Times New Roman"/>
            </a:endParaRPr>
          </a:p>
          <a:p>
            <a:pPr>
              <a:buNone/>
            </a:pPr>
            <a:r>
              <a:rPr lang="en-IN" b="1" dirty="0">
                <a:latin typeface="Times New Roman"/>
                <a:cs typeface="Times New Roman"/>
              </a:rPr>
              <a:t>3 ) Staff Table:</a:t>
            </a:r>
            <a:endParaRPr lang="en-IN" dirty="0"/>
          </a:p>
          <a:p>
            <a:pPr>
              <a:buNone/>
            </a:pPr>
            <a:r>
              <a:rPr lang="en-IN" dirty="0">
                <a:latin typeface="Times New Roman"/>
                <a:cs typeface="Times New Roman"/>
              </a:rPr>
              <a:t>The Staff table stores information about staff member details  in library.</a:t>
            </a:r>
            <a:endParaRPr lang="en-IN" dirty="0"/>
          </a:p>
          <a:p>
            <a:pPr marL="0" indent="0">
              <a:buNone/>
            </a:pPr>
            <a:r>
              <a:rPr lang="en-IN" dirty="0" err="1">
                <a:latin typeface="Times New Roman"/>
                <a:cs typeface="Times New Roman"/>
              </a:rPr>
              <a:t>Staff_ID</a:t>
            </a:r>
            <a:r>
              <a:rPr lang="en-IN" dirty="0">
                <a:latin typeface="Times New Roman"/>
                <a:cs typeface="Times New Roman"/>
              </a:rPr>
              <a:t> – Varchar(50)</a:t>
            </a:r>
          </a:p>
          <a:p>
            <a:pPr marL="0" indent="0">
              <a:buNone/>
            </a:pPr>
            <a:r>
              <a:rPr lang="en-IN" dirty="0">
                <a:latin typeface="Times New Roman"/>
                <a:cs typeface="Times New Roman"/>
              </a:rPr>
              <a:t>Name – Varchar(30)</a:t>
            </a:r>
          </a:p>
          <a:p>
            <a:pPr marL="0" indent="0">
              <a:buNone/>
            </a:pPr>
            <a:r>
              <a:rPr lang="en-IN" dirty="0">
                <a:latin typeface="Times New Roman"/>
                <a:cs typeface="Times New Roman"/>
              </a:rPr>
              <a:t>Contact – Varchar(10)</a:t>
            </a:r>
          </a:p>
          <a:p>
            <a:endParaRPr lang="en-IN" dirty="0">
              <a:latin typeface="Times New Roman"/>
              <a:cs typeface="Times New Roman"/>
            </a:endParaRPr>
          </a:p>
          <a:p>
            <a:endParaRPr lang="en-US" dirty="0"/>
          </a:p>
        </p:txBody>
      </p:sp>
    </p:spTree>
    <p:extLst>
      <p:ext uri="{BB962C8B-B14F-4D97-AF65-F5344CB8AC3E}">
        <p14:creationId xmlns:p14="http://schemas.microsoft.com/office/powerpoint/2010/main" val="1134836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A2FE4-A0DD-F718-289F-310A674CCEC5}"/>
              </a:ext>
            </a:extLst>
          </p:cNvPr>
          <p:cNvSpPr>
            <a:spLocks noGrp="1"/>
          </p:cNvSpPr>
          <p:nvPr>
            <p:ph type="title"/>
          </p:nvPr>
        </p:nvSpPr>
        <p:spPr>
          <a:xfrm>
            <a:off x="700635" y="914400"/>
            <a:ext cx="10691265" cy="646234"/>
          </a:xfrm>
        </p:spPr>
        <p:txBody>
          <a:bodyPr>
            <a:normAutofit fontScale="90000"/>
          </a:bodyPr>
          <a:lstStyle/>
          <a:p>
            <a:r>
              <a:rPr lang="en-US" dirty="0"/>
              <a:t>USER INTERFACE</a:t>
            </a:r>
          </a:p>
        </p:txBody>
      </p:sp>
      <p:sp>
        <p:nvSpPr>
          <p:cNvPr id="6" name="Content Placeholder 5">
            <a:extLst>
              <a:ext uri="{FF2B5EF4-FFF2-40B4-BE49-F238E27FC236}">
                <a16:creationId xmlns:a16="http://schemas.microsoft.com/office/drawing/2014/main" id="{91B68FFA-5F3C-2901-FC41-EA1C58984222}"/>
              </a:ext>
            </a:extLst>
          </p:cNvPr>
          <p:cNvSpPr>
            <a:spLocks noGrp="1"/>
          </p:cNvSpPr>
          <p:nvPr>
            <p:ph idx="1"/>
          </p:nvPr>
        </p:nvSpPr>
        <p:spPr>
          <a:xfrm>
            <a:off x="700635" y="1718785"/>
            <a:ext cx="10691265" cy="4243103"/>
          </a:xfrm>
        </p:spPr>
        <p:txBody>
          <a:bodyPr vert="horz" lIns="91440" tIns="45720" rIns="91440" bIns="45720" rtlCol="0" anchor="t">
            <a:normAutofit/>
          </a:bodyPr>
          <a:lstStyle/>
          <a:p>
            <a:endParaRPr lang="en-IN" b="1" u="sng" dirty="0">
              <a:latin typeface="Times New Roman"/>
              <a:cs typeface="Times New Roman"/>
            </a:endParaRPr>
          </a:p>
          <a:p>
            <a:pPr algn="just"/>
            <a:endParaRPr lang="en-IN" dirty="0">
              <a:latin typeface="Times New Roman"/>
              <a:cs typeface="Times New Roman"/>
            </a:endParaRPr>
          </a:p>
          <a:p>
            <a:pPr algn="just"/>
            <a:endParaRPr lang="en-IN" dirty="0">
              <a:latin typeface="Times New Roman"/>
              <a:cs typeface="Times New Roman"/>
            </a:endParaRPr>
          </a:p>
          <a:p>
            <a:endParaRPr lang="en-US"/>
          </a:p>
        </p:txBody>
      </p:sp>
      <p:pic>
        <p:nvPicPr>
          <p:cNvPr id="7" name="Picture 6" descr="A login page with blue and white text&#10;&#10;AI-generated content may be incorrect.">
            <a:extLst>
              <a:ext uri="{FF2B5EF4-FFF2-40B4-BE49-F238E27FC236}">
                <a16:creationId xmlns:a16="http://schemas.microsoft.com/office/drawing/2014/main" id="{401DB690-3849-64FD-B75D-871FD8AA712C}"/>
              </a:ext>
            </a:extLst>
          </p:cNvPr>
          <p:cNvPicPr>
            <a:picLocks noChangeAspect="1"/>
          </p:cNvPicPr>
          <p:nvPr/>
        </p:nvPicPr>
        <p:blipFill>
          <a:blip r:embed="rId2"/>
          <a:stretch>
            <a:fillRect/>
          </a:stretch>
        </p:blipFill>
        <p:spPr>
          <a:xfrm>
            <a:off x="990151" y="1927734"/>
            <a:ext cx="4302605" cy="3448229"/>
          </a:xfrm>
          <a:prstGeom prst="rect">
            <a:avLst/>
          </a:prstGeom>
        </p:spPr>
      </p:pic>
      <p:pic>
        <p:nvPicPr>
          <p:cNvPr id="8" name="Picture 7" descr="A screenshot of a dashboard&#10;&#10;AI-generated content may be incorrect.">
            <a:extLst>
              <a:ext uri="{FF2B5EF4-FFF2-40B4-BE49-F238E27FC236}">
                <a16:creationId xmlns:a16="http://schemas.microsoft.com/office/drawing/2014/main" id="{81538E36-1D17-7AAD-DFDA-20B47DCAEA8C}"/>
              </a:ext>
            </a:extLst>
          </p:cNvPr>
          <p:cNvPicPr>
            <a:picLocks noChangeAspect="1"/>
          </p:cNvPicPr>
          <p:nvPr/>
        </p:nvPicPr>
        <p:blipFill>
          <a:blip r:embed="rId3"/>
          <a:stretch>
            <a:fillRect/>
          </a:stretch>
        </p:blipFill>
        <p:spPr>
          <a:xfrm>
            <a:off x="5827862" y="1922972"/>
            <a:ext cx="5367067" cy="3457753"/>
          </a:xfrm>
          <a:prstGeom prst="rect">
            <a:avLst/>
          </a:prstGeom>
        </p:spPr>
      </p:pic>
    </p:spTree>
    <p:extLst>
      <p:ext uri="{BB962C8B-B14F-4D97-AF65-F5344CB8AC3E}">
        <p14:creationId xmlns:p14="http://schemas.microsoft.com/office/powerpoint/2010/main" val="1359340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FF2D6979-ADB3-9166-DE55-AFEE16E43ABF}"/>
              </a:ext>
            </a:extLst>
          </p:cNvPr>
          <p:cNvPicPr>
            <a:picLocks noChangeAspect="1"/>
          </p:cNvPicPr>
          <p:nvPr/>
        </p:nvPicPr>
        <p:blipFill>
          <a:blip r:embed="rId2"/>
          <a:stretch>
            <a:fillRect/>
          </a:stretch>
        </p:blipFill>
        <p:spPr>
          <a:xfrm>
            <a:off x="811512" y="885465"/>
            <a:ext cx="4803656" cy="2441637"/>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9161452A-9DA1-A3F3-81F2-00144F3836D9}"/>
              </a:ext>
            </a:extLst>
          </p:cNvPr>
          <p:cNvPicPr>
            <a:picLocks noChangeAspect="1"/>
          </p:cNvPicPr>
          <p:nvPr/>
        </p:nvPicPr>
        <p:blipFill>
          <a:blip r:embed="rId3"/>
          <a:stretch>
            <a:fillRect/>
          </a:stretch>
        </p:blipFill>
        <p:spPr>
          <a:xfrm>
            <a:off x="6098516" y="884477"/>
            <a:ext cx="4811384" cy="244361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5AF23924-079F-1703-CF9A-29576A597F4F}"/>
              </a:ext>
            </a:extLst>
          </p:cNvPr>
          <p:cNvPicPr>
            <a:picLocks noChangeAspect="1"/>
          </p:cNvPicPr>
          <p:nvPr/>
        </p:nvPicPr>
        <p:blipFill>
          <a:blip r:embed="rId4"/>
          <a:stretch>
            <a:fillRect/>
          </a:stretch>
        </p:blipFill>
        <p:spPr>
          <a:xfrm>
            <a:off x="804863" y="3424238"/>
            <a:ext cx="4816955" cy="2424922"/>
          </a:xfrm>
          <a:prstGeom prst="rect">
            <a:avLst/>
          </a:prstGeom>
        </p:spPr>
      </p:pic>
      <p:pic>
        <p:nvPicPr>
          <p:cNvPr id="10" name="Picture 9" descr="A screenshot of a computer screen&#10;&#10;AI-generated content may be incorrect.">
            <a:extLst>
              <a:ext uri="{FF2B5EF4-FFF2-40B4-BE49-F238E27FC236}">
                <a16:creationId xmlns:a16="http://schemas.microsoft.com/office/drawing/2014/main" id="{51DD8280-AD78-0662-939E-3895AD81B6E8}"/>
              </a:ext>
            </a:extLst>
          </p:cNvPr>
          <p:cNvPicPr>
            <a:picLocks noChangeAspect="1"/>
          </p:cNvPicPr>
          <p:nvPr/>
        </p:nvPicPr>
        <p:blipFill>
          <a:blip r:embed="rId5"/>
          <a:stretch>
            <a:fillRect/>
          </a:stretch>
        </p:blipFill>
        <p:spPr>
          <a:xfrm>
            <a:off x="6102920" y="3424418"/>
            <a:ext cx="4802577" cy="2424562"/>
          </a:xfrm>
          <a:prstGeom prst="rect">
            <a:avLst/>
          </a:prstGeom>
        </p:spPr>
      </p:pic>
    </p:spTree>
    <p:extLst>
      <p:ext uri="{BB962C8B-B14F-4D97-AF65-F5344CB8AC3E}">
        <p14:creationId xmlns:p14="http://schemas.microsoft.com/office/powerpoint/2010/main" val="743939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6" name="Rectangle 4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39CE37-F7F8-F1FD-63D6-482E244E1790}"/>
              </a:ext>
            </a:extLst>
          </p:cNvPr>
          <p:cNvSpPr>
            <a:spLocks noGrp="1"/>
          </p:cNvSpPr>
          <p:nvPr>
            <p:ph type="title"/>
          </p:nvPr>
        </p:nvSpPr>
        <p:spPr>
          <a:xfrm>
            <a:off x="1969770" y="5852162"/>
            <a:ext cx="5965190" cy="746854"/>
          </a:xfrm>
        </p:spPr>
        <p:txBody>
          <a:bodyPr vert="horz" lIns="91440" tIns="45720" rIns="91440" bIns="45720" rtlCol="0" anchor="t">
            <a:normAutofit/>
          </a:bodyPr>
          <a:lstStyle/>
          <a:p>
            <a:r>
              <a:rPr lang="en-US" dirty="0"/>
              <a:t>THANK YOU</a:t>
            </a:r>
          </a:p>
        </p:txBody>
      </p:sp>
      <p:pic>
        <p:nvPicPr>
          <p:cNvPr id="7" name="Graphic 6" descr="Smiling Face with No Fill">
            <a:extLst>
              <a:ext uri="{FF2B5EF4-FFF2-40B4-BE49-F238E27FC236}">
                <a16:creationId xmlns:a16="http://schemas.microsoft.com/office/drawing/2014/main" id="{0F59FB02-58A1-8C62-C83C-5D263B2E00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97763" y="406400"/>
            <a:ext cx="5196474" cy="5196474"/>
          </a:xfrm>
          <a:prstGeom prst="rect">
            <a:avLst/>
          </a:prstGeom>
        </p:spPr>
      </p:pic>
      <p:cxnSp>
        <p:nvCxnSpPr>
          <p:cNvPr id="47" name="Straight Connector 4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69770" y="5719083"/>
            <a:ext cx="8229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2601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ChronicleVTI</vt:lpstr>
      <vt:lpstr>Library Management System</vt:lpstr>
      <vt:lpstr>ROLES</vt:lpstr>
      <vt:lpstr>Problem statement</vt:lpstr>
      <vt:lpstr>OBJECTIVE</vt:lpstr>
      <vt:lpstr>Modules</vt:lpstr>
      <vt:lpstr>PowerPoint Presentation</vt:lpstr>
      <vt:lpstr>DATABASE</vt:lpstr>
      <vt:lpstr>PowerPoint Presentation</vt:lpstr>
      <vt:lpstr>USER INTERFACE</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286</cp:revision>
  <dcterms:created xsi:type="dcterms:W3CDTF">2026-02-18T15:03:05Z</dcterms:created>
  <dcterms:modified xsi:type="dcterms:W3CDTF">2026-02-18T16:04:08Z</dcterms:modified>
</cp:coreProperties>
</file>