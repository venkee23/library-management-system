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58" r:id="rId5"/>
    <p:sldId id="272" r:id="rId6"/>
    <p:sldId id="273" r:id="rId7"/>
    <p:sldId id="271" r:id="rId8"/>
    <p:sldId id="259" r:id="rId9"/>
    <p:sldId id="274" r:id="rId10"/>
    <p:sldId id="266" r:id="rId11"/>
    <p:sldId id="267" r:id="rId12"/>
    <p:sldId id="275" r:id="rId13"/>
    <p:sldId id="261" r:id="rId14"/>
    <p:sldId id="265" r:id="rId15"/>
    <p:sldId id="263" r:id="rId16"/>
    <p:sldId id="264" r:id="rId17"/>
  </p:sldIdLst>
  <p:sldSz cx="13817600" cy="7772400"/>
  <p:notesSz cx="10058400" cy="7772400"/>
  <p:defaultTextStyle>
    <a:defPPr>
      <a:defRPr kern="0"/>
    </a:defPPr>
  </p:defaultTextStyle>
  <p:extLst>
    <p:ext uri="{EFAFB233-063F-42B5-8137-9DF3F51BA10A}">
      <p15:sldGuideLst xmlns=""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771" autoAdjust="0"/>
  </p:normalViewPr>
  <p:slideViewPr>
    <p:cSldViewPr showGuides="1">
      <p:cViewPr varScale="1">
        <p:scale>
          <a:sx n="66" d="100"/>
          <a:sy n="66" d="100"/>
        </p:scale>
        <p:origin x="-1176" y="-96"/>
      </p:cViewPr>
      <p:guideLst>
        <p:guide orient="horz" pos="2880"/>
        <p:guide pos="2967"/>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36320" y="2409444"/>
            <a:ext cx="11744960" cy="353943"/>
          </a:xfrm>
          <a:prstGeom prst="rect">
            <a:avLst/>
          </a:prstGeom>
        </p:spPr>
        <p:txBody>
          <a:bodyPr wrap="square" lIns="0" tIns="0" rIns="0" bIns="0">
            <a:spAutoFit/>
          </a:bodyPr>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subTitle" idx="4"/>
          </p:nvPr>
        </p:nvSpPr>
        <p:spPr>
          <a:xfrm>
            <a:off x="2072640" y="4352544"/>
            <a:ext cx="9672320" cy="300082"/>
          </a:xfrm>
          <a:prstGeom prst="rect">
            <a:avLst/>
          </a:prstGeom>
        </p:spPr>
        <p:txBody>
          <a:bodyPr wrap="square" lIns="0" tIns="0" rIns="0" bIns="0">
            <a:spAutoFit/>
          </a:bodyPr>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sz="half" idx="2"/>
          </p:nvPr>
        </p:nvSpPr>
        <p:spPr>
          <a:xfrm>
            <a:off x="690880" y="1787652"/>
            <a:ext cx="6010656"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637734" y="258723"/>
            <a:ext cx="6321068" cy="704793"/>
          </a:xfrm>
          <a:prstGeom prst="rect">
            <a:avLst/>
          </a:prstGeom>
        </p:spPr>
      </p:pic>
      <p:pic>
        <p:nvPicPr>
          <p:cNvPr id="17" name="bg object 17"/>
          <p:cNvPicPr/>
          <p:nvPr/>
        </p:nvPicPr>
        <p:blipFill>
          <a:blip r:embed="rId3" cstate="print"/>
          <a:stretch>
            <a:fillRect/>
          </a:stretch>
        </p:blipFill>
        <p:spPr>
          <a:xfrm>
            <a:off x="3475991" y="125730"/>
            <a:ext cx="6865619" cy="1045130"/>
          </a:xfrm>
          <a:prstGeom prst="rect">
            <a:avLst/>
          </a:prstGeom>
        </p:spPr>
      </p:pic>
      <p:pic>
        <p:nvPicPr>
          <p:cNvPr id="18" name="bg object 18"/>
          <p:cNvPicPr/>
          <p:nvPr/>
        </p:nvPicPr>
        <p:blipFill>
          <a:blip r:embed="rId4" cstate="print"/>
          <a:stretch>
            <a:fillRect/>
          </a:stretch>
        </p:blipFill>
        <p:spPr>
          <a:xfrm>
            <a:off x="3659505" y="251408"/>
            <a:ext cx="6288159" cy="506849"/>
          </a:xfrm>
          <a:prstGeom prst="rect">
            <a:avLst/>
          </a:prstGeom>
        </p:spPr>
      </p:pic>
      <p:sp>
        <p:nvSpPr>
          <p:cNvPr id="19" name="bg object 19"/>
          <p:cNvSpPr/>
          <p:nvPr/>
        </p:nvSpPr>
        <p:spPr>
          <a:xfrm>
            <a:off x="3735070" y="290751"/>
            <a:ext cx="614290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4523105" y="282840"/>
            <a:ext cx="4636524"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62747" y="881554"/>
            <a:ext cx="3473591" cy="353943"/>
          </a:xfrm>
          <a:prstGeom prst="rect">
            <a:avLst/>
          </a:prstGeom>
        </p:spPr>
        <p:txBody>
          <a:bodyPr wrap="square" lIns="0" tIns="0" rIns="0" bIns="0">
            <a:spAutoFit/>
          </a:bodyPr>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a:xfrm>
            <a:off x="853350" y="1409150"/>
            <a:ext cx="12293651" cy="300082"/>
          </a:xfrm>
          <a:prstGeom prst="rect">
            <a:avLst/>
          </a:prstGeom>
        </p:spPr>
        <p:txBody>
          <a:bodyPr wrap="square" lIns="0" tIns="0" rIns="0" bIns="0">
            <a:spAutoFit/>
          </a:bodyPr>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4697984" y="7228332"/>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2"/>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2/14/2026</a:t>
            </a:fld>
            <a:endParaRPr lang="en-US"/>
          </a:p>
        </p:txBody>
      </p:sp>
      <p:sp>
        <p:nvSpPr>
          <p:cNvPr id="6" name="Holder 6"/>
          <p:cNvSpPr>
            <a:spLocks noGrp="1"/>
          </p:cNvSpPr>
          <p:nvPr>
            <p:ph type="sldNum" sz="quarter" idx="7"/>
          </p:nvPr>
        </p:nvSpPr>
        <p:spPr>
          <a:xfrm>
            <a:off x="9948672" y="7228332"/>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70400" y="1981200"/>
            <a:ext cx="4876800" cy="353943"/>
          </a:xfrm>
        </p:spPr>
        <p:txBody>
          <a:bodyPr/>
          <a:lstStyle/>
          <a:p>
            <a:r>
              <a:rPr lang="en-IN" dirty="0" smtClean="0"/>
              <a:t>Library Management System</a:t>
            </a:r>
            <a:endParaRPr dirty="0"/>
          </a:p>
        </p:txBody>
      </p:sp>
      <p:sp>
        <p:nvSpPr>
          <p:cNvPr id="3" name="Subtitle 2"/>
          <p:cNvSpPr>
            <a:spLocks noGrp="1"/>
          </p:cNvSpPr>
          <p:nvPr>
            <p:ph type="subTitle" idx="4"/>
          </p:nvPr>
        </p:nvSpPr>
        <p:spPr>
          <a:xfrm>
            <a:off x="3327400" y="3429000"/>
            <a:ext cx="7066844" cy="2174954"/>
          </a:xfrm>
        </p:spPr>
        <p:txBody>
          <a:bodyPr/>
          <a:lstStyle/>
          <a:p>
            <a:pPr algn="ctr">
              <a:lnSpc>
                <a:spcPct val="150000"/>
              </a:lnSpc>
              <a:spcBef>
                <a:spcPts val="130"/>
              </a:spcBef>
            </a:pPr>
            <a:r>
              <a:rPr lang="en-IN" sz="2000" dirty="0">
                <a:solidFill>
                  <a:srgbClr val="FF0000"/>
                </a:solidFill>
              </a:rPr>
              <a:t>Presented</a:t>
            </a:r>
            <a:r>
              <a:rPr lang="en-IN" sz="2000" spc="80" dirty="0">
                <a:solidFill>
                  <a:srgbClr val="FF0000"/>
                </a:solidFill>
              </a:rPr>
              <a:t> </a:t>
            </a:r>
            <a:r>
              <a:rPr lang="en-IN" sz="2000" spc="-25" dirty="0">
                <a:solidFill>
                  <a:srgbClr val="FF0000"/>
                </a:solidFill>
              </a:rPr>
              <a:t>by: Team </a:t>
            </a:r>
          </a:p>
          <a:p>
            <a:pPr algn="ctr">
              <a:lnSpc>
                <a:spcPct val="150000"/>
              </a:lnSpc>
              <a:spcBef>
                <a:spcPts val="130"/>
              </a:spcBef>
            </a:pPr>
            <a:r>
              <a:rPr lang="en-IN" sz="1800" spc="-25" dirty="0" smtClean="0">
                <a:solidFill>
                  <a:schemeClr val="accent4"/>
                </a:solidFill>
              </a:rPr>
              <a:t>B.  </a:t>
            </a:r>
            <a:r>
              <a:rPr lang="en-IN" sz="1800" spc="-25" dirty="0" err="1" smtClean="0">
                <a:solidFill>
                  <a:schemeClr val="accent4"/>
                </a:solidFill>
              </a:rPr>
              <a:t>Chaitanya</a:t>
            </a:r>
            <a:r>
              <a:rPr lang="en-IN" sz="1800" spc="-25" dirty="0" smtClean="0">
                <a:solidFill>
                  <a:schemeClr val="accent4"/>
                </a:solidFill>
              </a:rPr>
              <a:t> (24B11CS027)</a:t>
            </a:r>
          </a:p>
          <a:p>
            <a:pPr algn="ctr">
              <a:lnSpc>
                <a:spcPct val="150000"/>
              </a:lnSpc>
              <a:spcBef>
                <a:spcPts val="130"/>
              </a:spcBef>
            </a:pPr>
            <a:r>
              <a:rPr lang="en-IN" sz="1800" spc="-25" dirty="0" smtClean="0">
                <a:solidFill>
                  <a:schemeClr val="accent4"/>
                </a:solidFill>
              </a:rPr>
              <a:t>K. </a:t>
            </a:r>
            <a:r>
              <a:rPr lang="en-IN" sz="1800" spc="-25" dirty="0" err="1" smtClean="0">
                <a:solidFill>
                  <a:schemeClr val="accent4"/>
                </a:solidFill>
              </a:rPr>
              <a:t>Venkatesh</a:t>
            </a:r>
            <a:r>
              <a:rPr lang="en-IN" sz="1800" spc="-25" dirty="0" smtClean="0">
                <a:solidFill>
                  <a:schemeClr val="accent4"/>
                </a:solidFill>
              </a:rPr>
              <a:t> (24B11CS191)</a:t>
            </a:r>
          </a:p>
          <a:p>
            <a:pPr algn="ctr">
              <a:lnSpc>
                <a:spcPct val="150000"/>
              </a:lnSpc>
              <a:spcBef>
                <a:spcPts val="130"/>
              </a:spcBef>
            </a:pPr>
            <a:r>
              <a:rPr lang="en-IN" sz="1800" spc="-25" dirty="0" smtClean="0">
                <a:solidFill>
                  <a:schemeClr val="accent4"/>
                </a:solidFill>
              </a:rPr>
              <a:t>K.  </a:t>
            </a:r>
            <a:r>
              <a:rPr lang="en-IN" sz="1800" spc="-25" dirty="0" err="1" smtClean="0">
                <a:solidFill>
                  <a:schemeClr val="accent4"/>
                </a:solidFill>
              </a:rPr>
              <a:t>Rupesh</a:t>
            </a:r>
            <a:r>
              <a:rPr lang="en-IN" sz="1800" spc="-25" dirty="0" smtClean="0">
                <a:solidFill>
                  <a:schemeClr val="accent4"/>
                </a:solidFill>
              </a:rPr>
              <a:t> (24B11CS210)</a:t>
            </a:r>
          </a:p>
          <a:p>
            <a:pPr algn="ctr">
              <a:lnSpc>
                <a:spcPct val="150000"/>
              </a:lnSpc>
              <a:spcBef>
                <a:spcPts val="130"/>
              </a:spcBef>
            </a:pPr>
            <a:r>
              <a:rPr lang="en-IN" sz="1800" spc="-25" dirty="0" smtClean="0">
                <a:solidFill>
                  <a:schemeClr val="accent4"/>
                </a:solidFill>
              </a:rPr>
              <a:t>D. </a:t>
            </a:r>
            <a:r>
              <a:rPr lang="en-IN" sz="1800" spc="-25" dirty="0" err="1" smtClean="0">
                <a:solidFill>
                  <a:schemeClr val="accent4"/>
                </a:solidFill>
              </a:rPr>
              <a:t>Jashuva</a:t>
            </a:r>
            <a:r>
              <a:rPr lang="en-IN" sz="1800" spc="-25" dirty="0" smtClean="0">
                <a:solidFill>
                  <a:schemeClr val="accent4"/>
                </a:solidFill>
              </a:rPr>
              <a:t> (24B11CS105)</a:t>
            </a:r>
          </a:p>
        </p:txBody>
      </p:sp>
      <p:pic>
        <p:nvPicPr>
          <p:cNvPr id="4" name="object 2">
            <a:extLst>
              <a:ext uri="{FF2B5EF4-FFF2-40B4-BE49-F238E27FC236}">
                <a16:creationId xmlns="" xmlns:a16="http://schemas.microsoft.com/office/drawing/2014/main" id="{65A8F6F5-1A95-A251-6622-93EED7FB972A}"/>
              </a:ext>
            </a:extLst>
          </p:cNvPr>
          <p:cNvPicPr/>
          <p:nvPr/>
        </p:nvPicPr>
        <p:blipFill>
          <a:blip r:embed="rId2" cstate="print"/>
          <a:stretch>
            <a:fillRect/>
          </a:stretch>
        </p:blipFill>
        <p:spPr>
          <a:xfrm>
            <a:off x="4470400" y="296130"/>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Objective</a:t>
            </a:r>
            <a:endParaRPr dirty="0"/>
          </a:p>
        </p:txBody>
      </p:sp>
      <p:sp>
        <p:nvSpPr>
          <p:cNvPr id="3" name="Text Placeholder 2"/>
          <p:cNvSpPr>
            <a:spLocks noGrp="1"/>
          </p:cNvSpPr>
          <p:nvPr>
            <p:ph type="body" idx="1"/>
          </p:nvPr>
        </p:nvSpPr>
        <p:spPr>
          <a:xfrm>
            <a:off x="1336636" y="1671622"/>
            <a:ext cx="10398850" cy="4924425"/>
          </a:xfrm>
        </p:spPr>
        <p:txBody>
          <a:bodyPr/>
          <a:lstStyle/>
          <a:p>
            <a:pPr>
              <a:buFont typeface="Wingdings"/>
              <a:buChar char="à"/>
            </a:pPr>
            <a:r>
              <a:rPr lang="en-US" sz="2000" b="0" dirty="0" smtClean="0"/>
              <a:t>  The </a:t>
            </a:r>
            <a:r>
              <a:rPr lang="en-US" sz="2000" b="0" dirty="0"/>
              <a:t>objective of this project is to design and implement a Java-based </a:t>
            </a:r>
            <a:r>
              <a:rPr lang="en-US" sz="2000" b="0" dirty="0" smtClean="0"/>
              <a:t>Library Management System that </a:t>
            </a:r>
            <a:r>
              <a:rPr lang="en-US" sz="2000" b="0" dirty="0"/>
              <a:t>enables </a:t>
            </a:r>
            <a:r>
              <a:rPr lang="en-US" sz="2000" b="0" dirty="0" smtClean="0"/>
              <a:t>learners for efficient book record management. </a:t>
            </a:r>
          </a:p>
          <a:p>
            <a:endParaRPr lang="en-US" sz="2000" b="0" dirty="0" smtClean="0"/>
          </a:p>
          <a:p>
            <a:pPr>
              <a:buFont typeface="Wingdings"/>
              <a:buChar char="à"/>
            </a:pPr>
            <a:r>
              <a:rPr lang="en-US" sz="2000" b="0" dirty="0" smtClean="0"/>
              <a:t>  The </a:t>
            </a:r>
            <a:r>
              <a:rPr lang="en-US" sz="2000" b="0" dirty="0"/>
              <a:t>system is developed using Core Java and JDBC, ensuring direct interaction with a relational database</a:t>
            </a:r>
            <a:r>
              <a:rPr lang="en-US" sz="2000" b="0" dirty="0" smtClean="0"/>
              <a:t>.</a:t>
            </a:r>
          </a:p>
          <a:p>
            <a:pPr>
              <a:buFont typeface="Wingdings"/>
              <a:buChar char="à"/>
            </a:pPr>
            <a:endParaRPr lang="en-US" sz="2000" b="0" dirty="0"/>
          </a:p>
          <a:p>
            <a:r>
              <a:rPr lang="en-US" sz="2000" dirty="0" smtClean="0">
                <a:sym typeface="Wingdings" pitchFamily="2" charset="2"/>
              </a:rPr>
              <a:t></a:t>
            </a:r>
            <a:r>
              <a:rPr lang="en-US" sz="2000" b="0" dirty="0" smtClean="0"/>
              <a:t> The </a:t>
            </a:r>
            <a:r>
              <a:rPr lang="en-US" sz="2000" b="0" dirty="0"/>
              <a:t>application performs CRUD operations (Create, Read, Update, Delete) </a:t>
            </a:r>
            <a:r>
              <a:rPr lang="en-US" sz="2000" b="0" dirty="0" smtClean="0"/>
              <a:t>to maintain accurate records,  reduce manual errors. </a:t>
            </a:r>
            <a:r>
              <a:rPr lang="en-US" sz="2000" b="0" dirty="0"/>
              <a:t>Proper validation mechanisms are implemented to prevent issues </a:t>
            </a:r>
            <a:r>
              <a:rPr lang="en-US" sz="2000" b="0" dirty="0" smtClean="0"/>
              <a:t>whether the book is available  or  not available in library. </a:t>
            </a:r>
          </a:p>
          <a:p>
            <a:endParaRPr lang="en-US" sz="2000" b="0" dirty="0" smtClean="0"/>
          </a:p>
          <a:p>
            <a:r>
              <a:rPr lang="en-US" sz="2000" dirty="0" smtClean="0">
                <a:sym typeface="Wingdings" pitchFamily="2" charset="2"/>
              </a:rPr>
              <a:t></a:t>
            </a:r>
            <a:r>
              <a:rPr lang="en-US" sz="2000" b="0" dirty="0" smtClean="0"/>
              <a:t>  JDBC </a:t>
            </a:r>
            <a:r>
              <a:rPr lang="en-US" sz="2000" b="0" dirty="0"/>
              <a:t>is used to establish a secure connection between the Java application and the database, allowing reliable execution of SQL queries.</a:t>
            </a:r>
          </a:p>
          <a:p>
            <a:endParaRPr lang="en-US" sz="2000" b="0" dirty="0" smtClean="0"/>
          </a:p>
          <a:p>
            <a:r>
              <a:rPr lang="en-US" sz="2000" b="0" dirty="0" smtClean="0"/>
              <a:t>Overall</a:t>
            </a:r>
            <a:r>
              <a:rPr lang="en-US" sz="2000" b="0" dirty="0"/>
              <a:t>, this project demonstrates practical knowledge of Java programming, database design, JDBC connectivity, SQL constraints, and data integrity, without using any frontend technologies.</a:t>
            </a:r>
          </a:p>
        </p:txBody>
      </p:sp>
      <p:pic>
        <p:nvPicPr>
          <p:cNvPr id="4" name="object 3">
            <a:extLst>
              <a:ext uri="{FF2B5EF4-FFF2-40B4-BE49-F238E27FC236}">
                <a16:creationId xmlns="" xmlns:a16="http://schemas.microsoft.com/office/drawing/2014/main" id="{346B5A36-3CB3-1E4E-C22E-833289017849}"/>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0" y="711689"/>
            <a:ext cx="3473591" cy="353943"/>
          </a:xfrm>
        </p:spPr>
        <p:txBody>
          <a:bodyPr/>
          <a:lstStyle/>
          <a:p>
            <a:r>
              <a:rPr dirty="0"/>
              <a:t>Problem Statement</a:t>
            </a:r>
          </a:p>
        </p:txBody>
      </p:sp>
      <p:sp>
        <p:nvSpPr>
          <p:cNvPr id="3" name="Text Placeholder 2"/>
          <p:cNvSpPr>
            <a:spLocks noGrp="1"/>
          </p:cNvSpPr>
          <p:nvPr>
            <p:ph type="body" idx="1"/>
          </p:nvPr>
        </p:nvSpPr>
        <p:spPr>
          <a:xfrm>
            <a:off x="336504" y="1643843"/>
            <a:ext cx="13001716" cy="5416868"/>
          </a:xfrm>
        </p:spPr>
        <p:txBody>
          <a:bodyPr/>
          <a:lstStyle/>
          <a:p>
            <a:r>
              <a:rPr lang="en-US" sz="2000" b="0" dirty="0" smtClean="0"/>
              <a:t>    </a:t>
            </a:r>
            <a:r>
              <a:rPr lang="en-US" sz="2000" dirty="0" smtClean="0"/>
              <a:t>Manual Tracking:</a:t>
            </a:r>
          </a:p>
          <a:p>
            <a:endParaRPr lang="en-US" sz="2000" dirty="0" smtClean="0"/>
          </a:p>
          <a:p>
            <a:r>
              <a:rPr lang="en-US" sz="2000" dirty="0" smtClean="0"/>
              <a:t>     </a:t>
            </a:r>
            <a:r>
              <a:rPr lang="en-US" sz="2000" dirty="0" smtClean="0">
                <a:sym typeface="Wingdings" pitchFamily="2" charset="2"/>
              </a:rPr>
              <a:t></a:t>
            </a:r>
            <a:r>
              <a:rPr lang="en-US" sz="2000" b="0" dirty="0" smtClean="0"/>
              <a:t>Many libraries still use manual registers to maintain book records. This manual process leads to data    redundancy,      missing records, and frequent human errors. Managing book availability and searching for books becomes time-consuming for both librarians and visitors.</a:t>
            </a:r>
          </a:p>
          <a:p>
            <a:endParaRPr lang="en-US" sz="2000" b="0" dirty="0" smtClean="0"/>
          </a:p>
          <a:p>
            <a:r>
              <a:rPr lang="en-US" sz="2000" b="0" dirty="0" smtClean="0"/>
              <a:t>    </a:t>
            </a:r>
            <a:r>
              <a:rPr lang="en-US" sz="2000" dirty="0" smtClean="0">
                <a:sym typeface="Wingdings" pitchFamily="2" charset="2"/>
              </a:rPr>
              <a:t></a:t>
            </a:r>
            <a:r>
              <a:rPr lang="en-US" sz="2000" b="0" dirty="0" smtClean="0"/>
              <a:t> To overcome these issues, a system developed using Java and JDBC can be used to search books efficiently by title or author name. This reduces manual effort, saves time for visitors, and minimizes data redundancy and anomalies in library records.</a:t>
            </a:r>
          </a:p>
          <a:p>
            <a:endParaRPr lang="en-US" sz="2000" b="0" dirty="0" smtClean="0"/>
          </a:p>
          <a:p>
            <a:r>
              <a:rPr lang="en-US" sz="2000" b="0" dirty="0" smtClean="0"/>
              <a:t>    </a:t>
            </a:r>
            <a:r>
              <a:rPr lang="en-US" sz="2000" dirty="0" smtClean="0">
                <a:sym typeface="Wingdings" pitchFamily="2" charset="2"/>
              </a:rPr>
              <a:t> </a:t>
            </a:r>
            <a:r>
              <a:rPr lang="en-US" sz="2000" b="0" dirty="0" smtClean="0"/>
              <a:t>Hence, there is a need for a simple, reliable, and database-driven Library Management System that automates book availability using Java and JDBC, ensuring proper validation, structured data storage, and efficient CRUD operations, without relying on any frontend technologies.</a:t>
            </a:r>
          </a:p>
          <a:p>
            <a:endParaRPr lang="en-US" sz="2000" b="0" dirty="0"/>
          </a:p>
          <a:p>
            <a:endParaRPr lang="en-US" sz="2400" b="0" dirty="0"/>
          </a:p>
          <a:p>
            <a:r>
              <a:rPr lang="en-US" sz="2400" dirty="0"/>
              <a:t/>
            </a:r>
            <a:br>
              <a:rPr lang="en-US" sz="2400" dirty="0"/>
            </a:br>
            <a:endParaRPr lang="en-US" sz="2400" dirty="0"/>
          </a:p>
        </p:txBody>
      </p:sp>
      <p:pic>
        <p:nvPicPr>
          <p:cNvPr id="4" name="object 3">
            <a:extLst>
              <a:ext uri="{FF2B5EF4-FFF2-40B4-BE49-F238E27FC236}">
                <a16:creationId xmlns="" xmlns:a16="http://schemas.microsoft.com/office/drawing/2014/main" id="{5522AADF-ED9D-E398-D1AE-7D66273D3A54}"/>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Overview</a:t>
            </a:r>
            <a:endParaRPr dirty="0"/>
          </a:p>
        </p:txBody>
      </p:sp>
      <p:sp>
        <p:nvSpPr>
          <p:cNvPr id="3" name="Text Placeholder 2"/>
          <p:cNvSpPr>
            <a:spLocks noGrp="1"/>
          </p:cNvSpPr>
          <p:nvPr>
            <p:ph type="body" idx="1"/>
          </p:nvPr>
        </p:nvSpPr>
        <p:spPr>
          <a:xfrm>
            <a:off x="836570" y="1814498"/>
            <a:ext cx="12293651" cy="4593565"/>
          </a:xfrm>
        </p:spPr>
        <p:txBody>
          <a:bodyPr/>
          <a:lstStyle/>
          <a:p>
            <a:pPr marL="457200" indent="-457200">
              <a:buAutoNum type="arabicPeriod"/>
            </a:pPr>
            <a:r>
              <a:rPr lang="en-US" sz="2000" dirty="0" smtClean="0"/>
              <a:t>Console-Based </a:t>
            </a:r>
            <a:r>
              <a:rPr lang="en-US" sz="2000" dirty="0"/>
              <a:t>Java </a:t>
            </a:r>
            <a:r>
              <a:rPr lang="en-US" sz="2000" dirty="0" smtClean="0"/>
              <a:t>Application</a:t>
            </a:r>
          </a:p>
          <a:p>
            <a:pPr marL="457200" indent="-457200">
              <a:buAutoNum type="arabicPeriod"/>
            </a:pPr>
            <a:endParaRPr lang="en-US" sz="2000" b="0" dirty="0"/>
          </a:p>
          <a:p>
            <a:r>
              <a:rPr lang="en-US" sz="2000" b="0" dirty="0"/>
              <a:t>This project is implemented as a console-based Java application, where the user interacts with the system through the command line instead of a graphical interface. </a:t>
            </a:r>
            <a:r>
              <a:rPr lang="en-US" sz="2000" b="0" dirty="0" smtClean="0"/>
              <a:t>All inputs such as book </a:t>
            </a:r>
            <a:r>
              <a:rPr lang="en-US" sz="2000" b="0" dirty="0" smtClean="0"/>
              <a:t>details, admin details</a:t>
            </a:r>
            <a:r>
              <a:rPr lang="en-US" sz="2000" b="0" dirty="0" smtClean="0"/>
              <a:t>, </a:t>
            </a:r>
            <a:r>
              <a:rPr lang="en-US" sz="2000" b="0" dirty="0" smtClean="0"/>
              <a:t>and staff details </a:t>
            </a:r>
            <a:r>
              <a:rPr lang="en-US" sz="2000" b="0" dirty="0" smtClean="0"/>
              <a:t>are </a:t>
            </a:r>
            <a:r>
              <a:rPr lang="en-US" sz="2000" b="0" dirty="0" smtClean="0"/>
              <a:t>entered using the keyboard, and outputs are displayed on the console.</a:t>
            </a:r>
            <a:endParaRPr lang="en-US" sz="2000" b="0" dirty="0"/>
          </a:p>
          <a:p>
            <a:endParaRPr lang="en-US" sz="2000" b="0" dirty="0" smtClean="0"/>
          </a:p>
          <a:p>
            <a:r>
              <a:rPr lang="en-US" sz="2000" dirty="0" smtClean="0"/>
              <a:t>Using </a:t>
            </a:r>
            <a:r>
              <a:rPr lang="en-US" sz="2000" dirty="0"/>
              <a:t>a console-based approach helps in</a:t>
            </a:r>
            <a:r>
              <a:rPr lang="en-US" sz="2000" dirty="0" smtClean="0"/>
              <a:t>:</a:t>
            </a:r>
          </a:p>
          <a:p>
            <a:endParaRPr lang="en-US" sz="2000" b="0" dirty="0"/>
          </a:p>
          <a:p>
            <a:r>
              <a:rPr lang="en-US" sz="2000" b="0" dirty="0" smtClean="0"/>
              <a:t>         Focus on core Java concepts</a:t>
            </a:r>
          </a:p>
          <a:p>
            <a:r>
              <a:rPr lang="en-US" sz="2000" b="0" dirty="0" smtClean="0"/>
              <a:t>         Easy understanding of program flow</a:t>
            </a:r>
          </a:p>
          <a:p>
            <a:r>
              <a:rPr lang="en-US" sz="2000" b="0" dirty="0" smtClean="0"/>
              <a:t>         No dependency on frontend technologies</a:t>
            </a:r>
          </a:p>
          <a:p>
            <a:endParaRPr lang="en-US" sz="2000" b="0" dirty="0"/>
          </a:p>
          <a:p>
            <a:endParaRPr lang="en-US" sz="2000" b="0" dirty="0"/>
          </a:p>
          <a:p>
            <a:endParaRPr lang="en-US" sz="2000" b="0" dirty="0"/>
          </a:p>
          <a:p>
            <a:endParaRPr lang="en-US" sz="2000" b="0" dirty="0"/>
          </a:p>
        </p:txBody>
      </p:sp>
      <p:pic>
        <p:nvPicPr>
          <p:cNvPr id="4" name="object 3">
            <a:extLst>
              <a:ext uri="{FF2B5EF4-FFF2-40B4-BE49-F238E27FC236}">
                <a16:creationId xmlns="" xmlns:a16="http://schemas.microsoft.com/office/drawing/2014/main" id="{21494749-59E2-C98B-D85F-063088EFC7A2}"/>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B2CE208-6504-04F3-A55E-D0C6117F57DB}"/>
              </a:ext>
            </a:extLst>
          </p:cNvPr>
          <p:cNvSpPr>
            <a:spLocks noGrp="1"/>
          </p:cNvSpPr>
          <p:nvPr>
            <p:ph type="title"/>
          </p:nvPr>
        </p:nvSpPr>
        <p:spPr/>
        <p:txBody>
          <a:bodyPr/>
          <a:lstStyle/>
          <a:p>
            <a:r>
              <a:rPr lang="en-IN" dirty="0"/>
              <a:t>System Overview</a:t>
            </a:r>
          </a:p>
        </p:txBody>
      </p:sp>
      <p:sp>
        <p:nvSpPr>
          <p:cNvPr id="3" name="Text Placeholder 2">
            <a:extLst>
              <a:ext uri="{FF2B5EF4-FFF2-40B4-BE49-F238E27FC236}">
                <a16:creationId xmlns="" xmlns:a16="http://schemas.microsoft.com/office/drawing/2014/main" id="{1B93E725-5A82-D8AA-CEEC-75D38108B700}"/>
              </a:ext>
            </a:extLst>
          </p:cNvPr>
          <p:cNvSpPr>
            <a:spLocks noGrp="1"/>
          </p:cNvSpPr>
          <p:nvPr>
            <p:ph type="body" idx="1"/>
          </p:nvPr>
        </p:nvSpPr>
        <p:spPr>
          <a:xfrm>
            <a:off x="853350" y="1409150"/>
            <a:ext cx="12293651" cy="5101397"/>
          </a:xfrm>
        </p:spPr>
        <p:txBody>
          <a:bodyPr/>
          <a:lstStyle/>
          <a:p>
            <a:r>
              <a:rPr lang="en-US" dirty="0"/>
              <a:t>2. JDBC </a:t>
            </a:r>
            <a:r>
              <a:rPr lang="en-US" dirty="0" smtClean="0"/>
              <a:t>Connectivity</a:t>
            </a:r>
          </a:p>
          <a:p>
            <a:endParaRPr lang="en-US" b="0" dirty="0"/>
          </a:p>
          <a:p>
            <a:r>
              <a:rPr lang="en-US" b="0" dirty="0"/>
              <a:t>The system uses JDBC (Java Database Connectivity) to connect the Java application with a relational database such as MySQL or Oracle. JDBC acts as a bridge between Java and the database, allowing the program to send SQL commands and receive results</a:t>
            </a:r>
            <a:r>
              <a:rPr lang="en-US" b="0" dirty="0" smtClean="0"/>
              <a:t>.</a:t>
            </a:r>
          </a:p>
          <a:p>
            <a:endParaRPr lang="en-US" dirty="0"/>
          </a:p>
          <a:p>
            <a:r>
              <a:rPr lang="en-US" dirty="0" smtClean="0"/>
              <a:t>Using  </a:t>
            </a:r>
            <a:r>
              <a:rPr lang="en-US" dirty="0"/>
              <a:t>JDBC:</a:t>
            </a:r>
          </a:p>
          <a:p>
            <a:r>
              <a:rPr lang="en-US" b="0" dirty="0" smtClean="0"/>
              <a:t>           A </a:t>
            </a:r>
            <a:r>
              <a:rPr lang="en-US" b="0" dirty="0"/>
              <a:t>database connection is established using </a:t>
            </a:r>
            <a:r>
              <a:rPr lang="en-US" b="0" dirty="0" err="1"/>
              <a:t>DriverManager</a:t>
            </a:r>
            <a:endParaRPr lang="en-US" b="0" dirty="0"/>
          </a:p>
          <a:p>
            <a:r>
              <a:rPr lang="en-US" b="0" dirty="0" smtClean="0"/>
              <a:t>           SQL </a:t>
            </a:r>
            <a:r>
              <a:rPr lang="en-US" b="0" dirty="0"/>
              <a:t>queries are executed using </a:t>
            </a:r>
            <a:r>
              <a:rPr lang="en-US" b="0" dirty="0" err="1"/>
              <a:t>PreparedStatement</a:t>
            </a:r>
            <a:endParaRPr lang="en-US" b="0" dirty="0"/>
          </a:p>
          <a:p>
            <a:r>
              <a:rPr lang="en-US" b="0" dirty="0" smtClean="0"/>
              <a:t>           Results </a:t>
            </a:r>
            <a:r>
              <a:rPr lang="en-US" b="0" dirty="0"/>
              <a:t>are retrieved using </a:t>
            </a:r>
            <a:r>
              <a:rPr lang="en-US" b="0" dirty="0" err="1" smtClean="0"/>
              <a:t>ResultSet</a:t>
            </a:r>
            <a:endParaRPr lang="en-US" b="0" dirty="0" smtClean="0"/>
          </a:p>
          <a:p>
            <a:endParaRPr lang="en-US" b="0" dirty="0"/>
          </a:p>
          <a:p>
            <a:r>
              <a:rPr lang="en-US" dirty="0" smtClean="0"/>
              <a:t>Advantages:</a:t>
            </a:r>
            <a:endParaRPr lang="en-US" dirty="0"/>
          </a:p>
          <a:p>
            <a:r>
              <a:rPr lang="en-US" b="0" dirty="0" smtClean="0"/>
              <a:t>           Secure </a:t>
            </a:r>
            <a:r>
              <a:rPr lang="en-US" b="0" dirty="0"/>
              <a:t>execution of SQL queries</a:t>
            </a:r>
          </a:p>
          <a:p>
            <a:r>
              <a:rPr lang="en-US" b="0" dirty="0" smtClean="0"/>
              <a:t>           Prevention </a:t>
            </a:r>
            <a:r>
              <a:rPr lang="en-US" b="0" dirty="0"/>
              <a:t>of SQL injection using prepared statements</a:t>
            </a:r>
          </a:p>
          <a:p>
            <a:r>
              <a:rPr lang="en-US" b="0" dirty="0" smtClean="0"/>
              <a:t>           Smooth </a:t>
            </a:r>
            <a:r>
              <a:rPr lang="en-US" b="0" dirty="0"/>
              <a:t>communication between Java code and database tables</a:t>
            </a:r>
          </a:p>
          <a:p>
            <a:r>
              <a:rPr lang="en-US" b="0" dirty="0" smtClean="0"/>
              <a:t>           This </a:t>
            </a:r>
            <a:r>
              <a:rPr lang="en-US" b="0" dirty="0"/>
              <a:t>demonstrates practical usage of real-time database interaction in Java applications.</a:t>
            </a:r>
          </a:p>
          <a:p>
            <a:endParaRPr lang="en-IN" dirty="0"/>
          </a:p>
        </p:txBody>
      </p:sp>
    </p:spTree>
    <p:extLst>
      <p:ext uri="{BB962C8B-B14F-4D97-AF65-F5344CB8AC3E}">
        <p14:creationId xmlns="" xmlns:p14="http://schemas.microsoft.com/office/powerpoint/2010/main" val="3768080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F041914-E42D-9DA5-E11E-124FE45E661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DBD51BB-A21D-BB3D-3573-475291A32191}"/>
              </a:ext>
            </a:extLst>
          </p:cNvPr>
          <p:cNvSpPr>
            <a:spLocks noGrp="1"/>
          </p:cNvSpPr>
          <p:nvPr>
            <p:ph type="title"/>
          </p:nvPr>
        </p:nvSpPr>
        <p:spPr/>
        <p:txBody>
          <a:bodyPr/>
          <a:lstStyle/>
          <a:p>
            <a:r>
              <a:rPr lang="en-IN" dirty="0"/>
              <a:t>System Overview</a:t>
            </a:r>
          </a:p>
        </p:txBody>
      </p:sp>
      <p:sp>
        <p:nvSpPr>
          <p:cNvPr id="3" name="Text Placeholder 2">
            <a:extLst>
              <a:ext uri="{FF2B5EF4-FFF2-40B4-BE49-F238E27FC236}">
                <a16:creationId xmlns="" xmlns:a16="http://schemas.microsoft.com/office/drawing/2014/main" id="{758F1CE2-9F03-38FE-0D3A-7C4CEAB8BB7A}"/>
              </a:ext>
            </a:extLst>
          </p:cNvPr>
          <p:cNvSpPr>
            <a:spLocks noGrp="1"/>
          </p:cNvSpPr>
          <p:nvPr>
            <p:ph type="body" idx="1"/>
          </p:nvPr>
        </p:nvSpPr>
        <p:spPr>
          <a:xfrm>
            <a:off x="853350" y="1409150"/>
            <a:ext cx="12293651" cy="4801314"/>
          </a:xfrm>
        </p:spPr>
        <p:txBody>
          <a:bodyPr/>
          <a:lstStyle/>
          <a:p>
            <a:r>
              <a:rPr lang="en-US" dirty="0"/>
              <a:t>3. Relational Database Design</a:t>
            </a:r>
          </a:p>
          <a:p>
            <a:r>
              <a:rPr lang="en-US" b="0" dirty="0" smtClean="0"/>
              <a:t>    The </a:t>
            </a:r>
            <a:r>
              <a:rPr lang="en-US" b="0" dirty="0"/>
              <a:t>system follows a relational database design, where data is stored in multiple </a:t>
            </a:r>
            <a:r>
              <a:rPr lang="en-US" b="0" dirty="0" smtClean="0"/>
              <a:t>tables:</a:t>
            </a:r>
          </a:p>
          <a:p>
            <a:r>
              <a:rPr lang="en-US" b="0" dirty="0" smtClean="0"/>
              <a:t>           Book table – stores book details</a:t>
            </a:r>
          </a:p>
          <a:p>
            <a:r>
              <a:rPr lang="en-US" b="0" dirty="0" smtClean="0"/>
              <a:t>           </a:t>
            </a:r>
            <a:r>
              <a:rPr lang="en-US" b="0" dirty="0" smtClean="0"/>
              <a:t>Admin</a:t>
            </a:r>
            <a:r>
              <a:rPr lang="en-US" b="0" dirty="0" smtClean="0"/>
              <a:t> </a:t>
            </a:r>
            <a:r>
              <a:rPr lang="en-US" b="0" dirty="0" smtClean="0"/>
              <a:t>table – stores </a:t>
            </a:r>
            <a:r>
              <a:rPr lang="en-US" b="0" dirty="0" smtClean="0"/>
              <a:t>admin details</a:t>
            </a:r>
            <a:endParaRPr lang="en-US" b="0" dirty="0" smtClean="0"/>
          </a:p>
          <a:p>
            <a:r>
              <a:rPr lang="en-US" b="0" dirty="0" smtClean="0"/>
              <a:t>           </a:t>
            </a:r>
            <a:r>
              <a:rPr lang="en-US" b="0" dirty="0" smtClean="0"/>
              <a:t>Staff</a:t>
            </a:r>
            <a:r>
              <a:rPr lang="en-US" b="0" dirty="0" smtClean="0"/>
              <a:t> </a:t>
            </a:r>
            <a:r>
              <a:rPr lang="en-US" b="0" dirty="0" smtClean="0"/>
              <a:t>table – </a:t>
            </a:r>
            <a:r>
              <a:rPr lang="en-US" b="0" dirty="0" smtClean="0"/>
              <a:t>stores staff details</a:t>
            </a:r>
            <a:endParaRPr lang="en-US" b="0" dirty="0" smtClean="0"/>
          </a:p>
          <a:p>
            <a:endParaRPr lang="en-US" b="0" dirty="0"/>
          </a:p>
          <a:p>
            <a:r>
              <a:rPr lang="en-US" dirty="0" smtClean="0"/>
              <a:t>    Relationships are maintained using:</a:t>
            </a:r>
          </a:p>
          <a:p>
            <a:r>
              <a:rPr lang="en-US" b="0" dirty="0" smtClean="0"/>
              <a:t>           Primary </a:t>
            </a:r>
            <a:r>
              <a:rPr lang="en-US" b="0" dirty="0"/>
              <a:t>Keys to uniquely identify records</a:t>
            </a:r>
          </a:p>
          <a:p>
            <a:r>
              <a:rPr lang="en-US" b="0" dirty="0" smtClean="0"/>
              <a:t>           Foreign </a:t>
            </a:r>
            <a:r>
              <a:rPr lang="en-US" b="0" dirty="0"/>
              <a:t>Keys to establish relationships between tables</a:t>
            </a:r>
          </a:p>
          <a:p>
            <a:r>
              <a:rPr lang="en-US" b="0" dirty="0" smtClean="0"/>
              <a:t>          UNIQUE </a:t>
            </a:r>
            <a:r>
              <a:rPr lang="en-US" b="0" dirty="0"/>
              <a:t>constraints to </a:t>
            </a:r>
            <a:r>
              <a:rPr lang="en-US" b="0" dirty="0" smtClean="0"/>
              <a:t>prevent data inconsistency.</a:t>
            </a:r>
          </a:p>
          <a:p>
            <a:endParaRPr lang="en-US" b="0" dirty="0"/>
          </a:p>
          <a:p>
            <a:r>
              <a:rPr lang="en-US" dirty="0" smtClean="0"/>
              <a:t>    This </a:t>
            </a:r>
            <a:r>
              <a:rPr lang="en-US" dirty="0"/>
              <a:t>design </a:t>
            </a:r>
            <a:r>
              <a:rPr lang="en-US" dirty="0" smtClean="0"/>
              <a:t>ensures: </a:t>
            </a:r>
            <a:endParaRPr lang="en-US" dirty="0"/>
          </a:p>
          <a:p>
            <a:r>
              <a:rPr lang="en-US" b="0" dirty="0" smtClean="0"/>
              <a:t>          Data </a:t>
            </a:r>
            <a:r>
              <a:rPr lang="en-US" b="0" dirty="0"/>
              <a:t>consistency and integrity</a:t>
            </a:r>
          </a:p>
          <a:p>
            <a:r>
              <a:rPr lang="en-US" b="0" dirty="0" smtClean="0"/>
              <a:t>          Avoidance </a:t>
            </a:r>
            <a:r>
              <a:rPr lang="en-US" b="0" dirty="0"/>
              <a:t>of redundancy</a:t>
            </a:r>
          </a:p>
          <a:p>
            <a:r>
              <a:rPr lang="en-US" b="0" dirty="0" smtClean="0"/>
              <a:t>          Easy </a:t>
            </a:r>
            <a:r>
              <a:rPr lang="en-US" b="0" dirty="0"/>
              <a:t>maintenance and scalability</a:t>
            </a:r>
          </a:p>
          <a:p>
            <a:endParaRPr lang="en-IN" dirty="0"/>
          </a:p>
        </p:txBody>
      </p:sp>
    </p:spTree>
    <p:extLst>
      <p:ext uri="{BB962C8B-B14F-4D97-AF65-F5344CB8AC3E}">
        <p14:creationId xmlns="" xmlns:p14="http://schemas.microsoft.com/office/powerpoint/2010/main" val="1593013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D74492-7A6A-E20E-77E0-475CA466BFA5}"/>
              </a:ext>
            </a:extLst>
          </p:cNvPr>
          <p:cNvSpPr>
            <a:spLocks noGrp="1"/>
          </p:cNvSpPr>
          <p:nvPr>
            <p:ph type="title"/>
          </p:nvPr>
        </p:nvSpPr>
        <p:spPr>
          <a:xfrm>
            <a:off x="5262747" y="881554"/>
            <a:ext cx="4465453" cy="707886"/>
          </a:xfrm>
        </p:spPr>
        <p:txBody>
          <a:bodyPr/>
          <a:lstStyle/>
          <a:p>
            <a:r>
              <a:rPr lang="en-IN" dirty="0"/>
              <a:t>System Overview Diagram</a:t>
            </a:r>
          </a:p>
        </p:txBody>
      </p:sp>
      <p:sp>
        <p:nvSpPr>
          <p:cNvPr id="3" name="Text Placeholder 2">
            <a:extLst>
              <a:ext uri="{FF2B5EF4-FFF2-40B4-BE49-F238E27FC236}">
                <a16:creationId xmlns="" xmlns:a16="http://schemas.microsoft.com/office/drawing/2014/main" id="{87493811-93BA-17AA-FCEF-9941CC84DAF0}"/>
              </a:ext>
            </a:extLst>
          </p:cNvPr>
          <p:cNvSpPr>
            <a:spLocks noGrp="1"/>
          </p:cNvSpPr>
          <p:nvPr>
            <p:ph type="body" idx="1"/>
          </p:nvPr>
        </p:nvSpPr>
        <p:spPr>
          <a:xfrm>
            <a:off x="853350" y="1409150"/>
            <a:ext cx="12293651" cy="1500411"/>
          </a:xfrm>
        </p:spPr>
        <p:txBody>
          <a:bodyPr/>
          <a:lstStyle/>
          <a:p>
            <a:r>
              <a:rPr lang="en-US" dirty="0"/>
              <a:t>4. No Frontend / UI</a:t>
            </a:r>
          </a:p>
          <a:p>
            <a:r>
              <a:rPr lang="en-US" b="0" dirty="0"/>
              <a:t>This project does not use any frontend technologies such as HTML, CSS, JavaScript, or </a:t>
            </a:r>
            <a:r>
              <a:rPr lang="en-US" b="0" dirty="0" smtClean="0"/>
              <a:t>frameworks. All operations are performed using Java and SQL through the console.</a:t>
            </a:r>
          </a:p>
          <a:p>
            <a:endParaRPr lang="en-US" b="0" dirty="0"/>
          </a:p>
          <a:p>
            <a:endParaRPr lang="en-IN" dirty="0"/>
          </a:p>
        </p:txBody>
      </p:sp>
      <p:pic>
        <p:nvPicPr>
          <p:cNvPr id="10252" name="Picture 12" descr="C:\Users\vamsi\Downloads\ChatGPT Image Jan 3, 2026, 09_46_48 PM.png"/>
          <p:cNvPicPr>
            <a:picLocks noChangeAspect="1" noChangeArrowheads="1"/>
          </p:cNvPicPr>
          <p:nvPr/>
        </p:nvPicPr>
        <p:blipFill>
          <a:blip r:embed="rId2"/>
          <a:srcRect/>
          <a:stretch>
            <a:fillRect/>
          </a:stretch>
        </p:blipFill>
        <p:spPr bwMode="auto">
          <a:xfrm>
            <a:off x="1622388" y="2671755"/>
            <a:ext cx="10358510" cy="4929222"/>
          </a:xfrm>
          <a:prstGeom prst="rect">
            <a:avLst/>
          </a:prstGeom>
          <a:noFill/>
        </p:spPr>
      </p:pic>
    </p:spTree>
    <p:extLst>
      <p:ext uri="{BB962C8B-B14F-4D97-AF65-F5344CB8AC3E}">
        <p14:creationId xmlns="" xmlns:p14="http://schemas.microsoft.com/office/powerpoint/2010/main" val="346282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800" y="381000"/>
            <a:ext cx="6599053" cy="923330"/>
          </a:xfrm>
        </p:spPr>
        <p:txBody>
          <a:bodyPr/>
          <a:lstStyle/>
          <a:p>
            <a:r>
              <a:rPr lang="en-US" sz="2000" dirty="0"/>
              <a:t/>
            </a:r>
            <a:br>
              <a:rPr lang="en-US" sz="2000" dirty="0"/>
            </a:br>
            <a:r>
              <a:rPr lang="en-US" sz="2000" dirty="0"/>
              <a:t/>
            </a:r>
            <a:br>
              <a:rPr lang="en-US" sz="2000" dirty="0"/>
            </a:br>
            <a:r>
              <a:rPr lang="en-US" sz="2000" dirty="0"/>
              <a:t>Database Design – Three Main Tables</a:t>
            </a:r>
          </a:p>
        </p:txBody>
      </p:sp>
      <p:sp>
        <p:nvSpPr>
          <p:cNvPr id="3" name="Text Placeholder 2"/>
          <p:cNvSpPr>
            <a:spLocks noGrp="1"/>
          </p:cNvSpPr>
          <p:nvPr>
            <p:ph type="body" idx="1"/>
          </p:nvPr>
        </p:nvSpPr>
        <p:spPr>
          <a:xfrm>
            <a:off x="761972" y="1385870"/>
            <a:ext cx="12293651" cy="6194003"/>
          </a:xfrm>
        </p:spPr>
        <p:txBody>
          <a:bodyPr/>
          <a:lstStyle/>
          <a:p>
            <a:pPr lvl="1"/>
            <a:r>
              <a:rPr lang="en-US" sz="2000" dirty="0"/>
              <a:t>To store and manage data efficiently, the </a:t>
            </a:r>
            <a:r>
              <a:rPr lang="en-US" sz="2000" dirty="0" smtClean="0"/>
              <a:t>Library Management System </a:t>
            </a:r>
            <a:r>
              <a:rPr lang="en-US" sz="2000" dirty="0"/>
              <a:t>uses a </a:t>
            </a:r>
            <a:r>
              <a:rPr lang="en-US" sz="2000" b="1" dirty="0"/>
              <a:t>relational database design</a:t>
            </a:r>
            <a:r>
              <a:rPr lang="en-US" sz="2000" dirty="0"/>
              <a:t>. Instead of keeping all information in a single table, the data is divided into </a:t>
            </a:r>
            <a:r>
              <a:rPr lang="en-US" sz="2000" b="1" dirty="0"/>
              <a:t>three separate tables</a:t>
            </a:r>
            <a:r>
              <a:rPr lang="en-US" sz="2000" dirty="0"/>
              <a:t>: </a:t>
            </a:r>
            <a:r>
              <a:rPr lang="en-US" sz="2000" b="1" dirty="0" smtClean="0"/>
              <a:t>Books</a:t>
            </a:r>
            <a:r>
              <a:rPr lang="en-US" sz="2000" dirty="0" smtClean="0"/>
              <a:t>, </a:t>
            </a:r>
            <a:r>
              <a:rPr lang="en-US" sz="2000" b="1" dirty="0" smtClean="0"/>
              <a:t>Admin</a:t>
            </a:r>
            <a:r>
              <a:rPr lang="en-US" sz="2000" dirty="0" smtClean="0"/>
              <a:t>, </a:t>
            </a:r>
            <a:r>
              <a:rPr lang="en-US" sz="2000" dirty="0"/>
              <a:t>and </a:t>
            </a:r>
            <a:endParaRPr lang="en-US" sz="2000" dirty="0" smtClean="0"/>
          </a:p>
          <a:p>
            <a:pPr lvl="1"/>
            <a:r>
              <a:rPr lang="en-US" sz="2000" b="1" dirty="0" smtClean="0"/>
              <a:t>Staff</a:t>
            </a:r>
            <a:r>
              <a:rPr lang="en-US" sz="2000" dirty="0" smtClean="0"/>
              <a:t>.</a:t>
            </a:r>
            <a:endParaRPr lang="en-US" sz="2000" dirty="0"/>
          </a:p>
          <a:p>
            <a:r>
              <a:rPr lang="en-US" dirty="0"/>
              <a:t>1. </a:t>
            </a:r>
            <a:r>
              <a:rPr lang="en-US" dirty="0" smtClean="0"/>
              <a:t>Book Table</a:t>
            </a:r>
            <a:endParaRPr lang="en-US" dirty="0"/>
          </a:p>
          <a:p>
            <a:r>
              <a:rPr lang="en-US" b="0" dirty="0" smtClean="0"/>
              <a:t>     The Book </a:t>
            </a:r>
            <a:r>
              <a:rPr lang="en-US" b="0" dirty="0"/>
              <a:t>table is used to store all the basic details of </a:t>
            </a:r>
            <a:r>
              <a:rPr lang="en-US" b="0" dirty="0" smtClean="0"/>
              <a:t>books available in library. Each book is </a:t>
            </a:r>
            <a:r>
              <a:rPr lang="en-US" b="0" dirty="0"/>
              <a:t>uniquely </a:t>
            </a:r>
            <a:r>
              <a:rPr lang="en-US" b="0" dirty="0" smtClean="0"/>
              <a:t> </a:t>
            </a:r>
          </a:p>
          <a:p>
            <a:r>
              <a:rPr lang="en-US" b="0" dirty="0" smtClean="0"/>
              <a:t>     identified </a:t>
            </a:r>
            <a:r>
              <a:rPr lang="en-US" b="0" dirty="0"/>
              <a:t>so that </a:t>
            </a:r>
            <a:r>
              <a:rPr lang="en-US" b="0" dirty="0" smtClean="0"/>
              <a:t>the book availability can </a:t>
            </a:r>
            <a:r>
              <a:rPr lang="en-US" b="0" dirty="0"/>
              <a:t>be tracked accurately</a:t>
            </a:r>
            <a:r>
              <a:rPr lang="en-US" b="0" dirty="0" smtClean="0"/>
              <a:t>.</a:t>
            </a:r>
          </a:p>
          <a:p>
            <a:endParaRPr lang="en-US" b="0" dirty="0"/>
          </a:p>
          <a:p>
            <a:r>
              <a:rPr lang="en-US" dirty="0" smtClean="0"/>
              <a:t>  Key </a:t>
            </a:r>
            <a:r>
              <a:rPr lang="en-US" dirty="0"/>
              <a:t>Attributes</a:t>
            </a:r>
          </a:p>
          <a:p>
            <a:r>
              <a:rPr lang="en-US" dirty="0" smtClean="0"/>
              <a:t>           </a:t>
            </a:r>
            <a:r>
              <a:rPr lang="en-US" dirty="0" err="1" smtClean="0"/>
              <a:t>Book_id</a:t>
            </a:r>
            <a:r>
              <a:rPr lang="en-US" dirty="0" smtClean="0"/>
              <a:t> </a:t>
            </a:r>
            <a:r>
              <a:rPr lang="en-US" dirty="0"/>
              <a:t>(Primary Key)</a:t>
            </a:r>
          </a:p>
          <a:p>
            <a:pPr lvl="1"/>
            <a:r>
              <a:rPr lang="en-US" dirty="0" smtClean="0"/>
              <a:t>            Uniquely </a:t>
            </a:r>
            <a:r>
              <a:rPr lang="en-US" dirty="0"/>
              <a:t>identifies each </a:t>
            </a:r>
            <a:r>
              <a:rPr lang="en-US" dirty="0" smtClean="0"/>
              <a:t>book</a:t>
            </a:r>
            <a:endParaRPr lang="en-US" dirty="0"/>
          </a:p>
          <a:p>
            <a:pPr lvl="1"/>
            <a:r>
              <a:rPr lang="en-US" dirty="0" smtClean="0"/>
              <a:t>            No </a:t>
            </a:r>
            <a:r>
              <a:rPr lang="en-US" dirty="0"/>
              <a:t>two </a:t>
            </a:r>
            <a:r>
              <a:rPr lang="en-US" dirty="0" smtClean="0"/>
              <a:t>books can </a:t>
            </a:r>
            <a:r>
              <a:rPr lang="en-US" dirty="0"/>
              <a:t>have the same </a:t>
            </a:r>
            <a:r>
              <a:rPr lang="en-US" dirty="0" smtClean="0"/>
              <a:t>ID</a:t>
            </a:r>
          </a:p>
          <a:p>
            <a:pPr lvl="1"/>
            <a:r>
              <a:rPr lang="en-US" dirty="0" smtClean="0"/>
              <a:t>    </a:t>
            </a:r>
            <a:r>
              <a:rPr lang="en-US" sz="1950" b="1" dirty="0" smtClean="0">
                <a:latin typeface="Palatino Linotype" pitchFamily="18" charset="0"/>
              </a:rPr>
              <a:t>Category</a:t>
            </a:r>
          </a:p>
          <a:p>
            <a:pPr lvl="1"/>
            <a:r>
              <a:rPr lang="en-US" dirty="0" smtClean="0"/>
              <a:t>            Stores the </a:t>
            </a:r>
            <a:r>
              <a:rPr lang="en-US" dirty="0" smtClean="0"/>
              <a:t>main content of </a:t>
            </a:r>
            <a:r>
              <a:rPr lang="en-US" dirty="0" smtClean="0"/>
              <a:t>that book</a:t>
            </a:r>
            <a:endParaRPr lang="en-US" dirty="0"/>
          </a:p>
          <a:p>
            <a:r>
              <a:rPr lang="en-US" dirty="0" smtClean="0"/>
              <a:t>           Name</a:t>
            </a:r>
            <a:endParaRPr lang="en-US" dirty="0"/>
          </a:p>
          <a:p>
            <a:pPr lvl="1"/>
            <a:r>
              <a:rPr lang="en-US" dirty="0" smtClean="0"/>
              <a:t>            Stores </a:t>
            </a:r>
            <a:r>
              <a:rPr lang="en-US" dirty="0"/>
              <a:t>the </a:t>
            </a:r>
            <a:r>
              <a:rPr lang="en-US" dirty="0" smtClean="0"/>
              <a:t>book name for title-based searching.</a:t>
            </a:r>
            <a:endParaRPr lang="en-US" dirty="0"/>
          </a:p>
          <a:p>
            <a:r>
              <a:rPr lang="en-US" dirty="0" smtClean="0"/>
              <a:t>           Author</a:t>
            </a:r>
            <a:endParaRPr lang="en-US" dirty="0"/>
          </a:p>
          <a:p>
            <a:pPr lvl="1"/>
            <a:r>
              <a:rPr lang="en-US" dirty="0" smtClean="0"/>
              <a:t>            Ensures that  name of the writer of the book.</a:t>
            </a:r>
            <a:endParaRPr lang="en-US" dirty="0"/>
          </a:p>
          <a:p>
            <a:r>
              <a:rPr lang="en-US" dirty="0" smtClean="0"/>
              <a:t>           Copies</a:t>
            </a:r>
            <a:endParaRPr lang="en-US" dirty="0"/>
          </a:p>
          <a:p>
            <a:pPr lvl="1"/>
            <a:r>
              <a:rPr lang="en-US" dirty="0" smtClean="0"/>
              <a:t>            Stores </a:t>
            </a:r>
            <a:r>
              <a:rPr lang="en-US" dirty="0"/>
              <a:t>the </a:t>
            </a:r>
            <a:r>
              <a:rPr lang="en-US" dirty="0" smtClean="0"/>
              <a:t>number of copies of a  book  of </a:t>
            </a:r>
            <a:r>
              <a:rPr lang="en-US" dirty="0"/>
              <a:t>the </a:t>
            </a:r>
            <a:r>
              <a:rPr lang="en-US" dirty="0" smtClean="0"/>
              <a:t>each author.</a:t>
            </a:r>
          </a:p>
          <a:p>
            <a:pPr lvl="1"/>
            <a:r>
              <a:rPr lang="en-US" sz="1950" b="1" dirty="0" smtClean="0"/>
              <a:t>    </a:t>
            </a:r>
            <a:endParaRPr lang="en-US" dirty="0"/>
          </a:p>
          <a:p>
            <a:pPr lvl="1"/>
            <a:endParaRPr sz="2000" dirty="0"/>
          </a:p>
        </p:txBody>
      </p:sp>
      <p:pic>
        <p:nvPicPr>
          <p:cNvPr id="4" name="object 3">
            <a:extLst>
              <a:ext uri="{FF2B5EF4-FFF2-40B4-BE49-F238E27FC236}">
                <a16:creationId xmlns="" xmlns:a16="http://schemas.microsoft.com/office/drawing/2014/main" id="{7E2F628E-9E3F-8732-F100-81528FC97FFA}"/>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2C8FE507-8782-E5CC-8EE3-F98DC4986D3F}"/>
              </a:ext>
            </a:extLst>
          </p:cNvPr>
          <p:cNvSpPr>
            <a:spLocks noGrp="1"/>
          </p:cNvSpPr>
          <p:nvPr>
            <p:ph type="body" idx="1"/>
          </p:nvPr>
        </p:nvSpPr>
        <p:spPr>
          <a:xfrm>
            <a:off x="584200" y="228600"/>
            <a:ext cx="12293651" cy="6671057"/>
          </a:xfrm>
        </p:spPr>
        <p:txBody>
          <a:bodyPr/>
          <a:lstStyle/>
          <a:p>
            <a:r>
              <a:rPr lang="en-US" dirty="0"/>
              <a:t>2</a:t>
            </a:r>
            <a:r>
              <a:rPr lang="en-US" b="0" dirty="0" smtClean="0"/>
              <a:t>. </a:t>
            </a:r>
            <a:r>
              <a:rPr lang="en-US" dirty="0" smtClean="0"/>
              <a:t>Admin </a:t>
            </a:r>
            <a:r>
              <a:rPr lang="en-US" dirty="0" smtClean="0"/>
              <a:t>Table</a:t>
            </a:r>
            <a:endParaRPr lang="en-US" dirty="0"/>
          </a:p>
          <a:p>
            <a:r>
              <a:rPr lang="en-US" b="0" dirty="0" smtClean="0"/>
              <a:t>              The </a:t>
            </a:r>
            <a:r>
              <a:rPr lang="en-US" b="0" dirty="0" smtClean="0"/>
              <a:t>Admin </a:t>
            </a:r>
            <a:r>
              <a:rPr lang="en-US" b="0" dirty="0"/>
              <a:t>table stores details of </a:t>
            </a:r>
            <a:r>
              <a:rPr lang="en-US" b="0" dirty="0" smtClean="0"/>
              <a:t>admin of that library. </a:t>
            </a:r>
          </a:p>
          <a:p>
            <a:r>
              <a:rPr lang="en-US" b="0" dirty="0" smtClean="0"/>
              <a:t> </a:t>
            </a:r>
            <a:r>
              <a:rPr lang="en-US" b="0" dirty="0" smtClean="0"/>
              <a:t>   </a:t>
            </a:r>
            <a:r>
              <a:rPr lang="en-US" b="0" dirty="0" smtClean="0"/>
              <a:t>Key </a:t>
            </a:r>
            <a:r>
              <a:rPr lang="en-US" b="0" dirty="0"/>
              <a:t>Attributes</a:t>
            </a:r>
          </a:p>
          <a:p>
            <a:r>
              <a:rPr lang="en-US" dirty="0" smtClean="0"/>
              <a:t>             </a:t>
            </a:r>
            <a:r>
              <a:rPr lang="en-US" dirty="0" err="1" smtClean="0"/>
              <a:t>User_id</a:t>
            </a:r>
            <a:r>
              <a:rPr lang="en-US" dirty="0" smtClean="0"/>
              <a:t>(Primary </a:t>
            </a:r>
            <a:r>
              <a:rPr lang="en-US" dirty="0"/>
              <a:t>Key)</a:t>
            </a:r>
          </a:p>
          <a:p>
            <a:pPr lvl="1"/>
            <a:r>
              <a:rPr lang="en-US" dirty="0" smtClean="0"/>
              <a:t>                Uniquely </a:t>
            </a:r>
            <a:r>
              <a:rPr lang="en-US" dirty="0"/>
              <a:t>identifies each </a:t>
            </a:r>
            <a:r>
              <a:rPr lang="en-US" dirty="0" smtClean="0"/>
              <a:t>admin.</a:t>
            </a:r>
            <a:endParaRPr lang="en-US" dirty="0"/>
          </a:p>
          <a:p>
            <a:r>
              <a:rPr lang="en-US" dirty="0" smtClean="0"/>
              <a:t>              Name</a:t>
            </a:r>
            <a:endParaRPr lang="en-US" dirty="0"/>
          </a:p>
          <a:p>
            <a:pPr lvl="1"/>
            <a:r>
              <a:rPr lang="en-US" dirty="0" smtClean="0"/>
              <a:t>                Stores </a:t>
            </a:r>
            <a:r>
              <a:rPr lang="en-US" dirty="0"/>
              <a:t>the name of the </a:t>
            </a:r>
            <a:r>
              <a:rPr lang="en-US" dirty="0" smtClean="0"/>
              <a:t>admin .</a:t>
            </a:r>
          </a:p>
          <a:p>
            <a:pPr lvl="1"/>
            <a:r>
              <a:rPr lang="en-US" dirty="0" smtClean="0"/>
              <a:t>       </a:t>
            </a:r>
            <a:r>
              <a:rPr lang="en-US" b="1" dirty="0" smtClean="0"/>
              <a:t> </a:t>
            </a:r>
            <a:r>
              <a:rPr lang="en-US" sz="1950" b="1" dirty="0" smtClean="0">
                <a:latin typeface="Palatino Linotype" pitchFamily="18" charset="0"/>
              </a:rPr>
              <a:t>Password</a:t>
            </a:r>
          </a:p>
          <a:p>
            <a:pPr lvl="1"/>
            <a:r>
              <a:rPr lang="en-US" dirty="0" smtClean="0"/>
              <a:t> </a:t>
            </a:r>
            <a:r>
              <a:rPr lang="en-US" dirty="0" smtClean="0"/>
              <a:t>               Stores password of that particular admin.</a:t>
            </a:r>
            <a:r>
              <a:rPr lang="en-US" dirty="0" smtClean="0"/>
              <a:t> </a:t>
            </a:r>
            <a:endParaRPr lang="en-US" dirty="0"/>
          </a:p>
          <a:p>
            <a:r>
              <a:rPr lang="en-US" dirty="0" smtClean="0"/>
              <a:t>              Contact</a:t>
            </a:r>
          </a:p>
          <a:p>
            <a:pPr lvl="1"/>
            <a:r>
              <a:rPr lang="en-US" dirty="0" smtClean="0"/>
              <a:t>                Stores the contact of that </a:t>
            </a:r>
            <a:r>
              <a:rPr lang="en-US" dirty="0" smtClean="0"/>
              <a:t>admin.</a:t>
            </a:r>
            <a:endParaRPr lang="en-US" dirty="0" smtClean="0"/>
          </a:p>
          <a:p>
            <a:pPr lvl="1"/>
            <a:r>
              <a:rPr lang="en-US" dirty="0" smtClean="0"/>
              <a:t> </a:t>
            </a:r>
            <a:r>
              <a:rPr lang="en-US" dirty="0" smtClean="0"/>
              <a:t>      </a:t>
            </a:r>
            <a:endParaRPr lang="en-US" dirty="0"/>
          </a:p>
          <a:p>
            <a:r>
              <a:rPr lang="en-US" dirty="0"/>
              <a:t>3. </a:t>
            </a:r>
            <a:r>
              <a:rPr lang="en-US" dirty="0" smtClean="0"/>
              <a:t>Staff </a:t>
            </a:r>
            <a:r>
              <a:rPr lang="en-US" dirty="0"/>
              <a:t>Table</a:t>
            </a:r>
          </a:p>
          <a:p>
            <a:r>
              <a:rPr lang="en-US" b="0" dirty="0" smtClean="0"/>
              <a:t>              The </a:t>
            </a:r>
            <a:r>
              <a:rPr lang="en-US" b="0" dirty="0" smtClean="0"/>
              <a:t>Staff </a:t>
            </a:r>
            <a:r>
              <a:rPr lang="en-US" b="0" dirty="0"/>
              <a:t>table </a:t>
            </a:r>
            <a:r>
              <a:rPr lang="en-US" b="0" dirty="0" smtClean="0"/>
              <a:t> stores information of the staff in that library.</a:t>
            </a:r>
          </a:p>
          <a:p>
            <a:r>
              <a:rPr lang="en-US" b="0" dirty="0" smtClean="0"/>
              <a:t> </a:t>
            </a:r>
            <a:r>
              <a:rPr lang="en-US" b="0" dirty="0" smtClean="0"/>
              <a:t>    </a:t>
            </a:r>
            <a:r>
              <a:rPr lang="en-US" b="0" dirty="0" smtClean="0"/>
              <a:t>Key </a:t>
            </a:r>
            <a:r>
              <a:rPr lang="en-US" b="0" dirty="0"/>
              <a:t>Attributes</a:t>
            </a:r>
          </a:p>
          <a:p>
            <a:r>
              <a:rPr lang="en-US" dirty="0" smtClean="0"/>
              <a:t>             </a:t>
            </a:r>
            <a:r>
              <a:rPr lang="en-US" dirty="0" err="1" smtClean="0"/>
              <a:t>Staff_ID</a:t>
            </a:r>
            <a:endParaRPr lang="en-US" dirty="0"/>
          </a:p>
          <a:p>
            <a:pPr lvl="1"/>
            <a:r>
              <a:rPr lang="en-US" dirty="0" smtClean="0"/>
              <a:t>                  </a:t>
            </a:r>
            <a:r>
              <a:rPr lang="en-US" dirty="0" smtClean="0"/>
              <a:t>Uniquely identifies each staff.</a:t>
            </a:r>
            <a:endParaRPr lang="en-US" dirty="0"/>
          </a:p>
          <a:p>
            <a:r>
              <a:rPr lang="en-US" dirty="0" smtClean="0"/>
              <a:t>             </a:t>
            </a:r>
            <a:r>
              <a:rPr lang="en-US" dirty="0" smtClean="0"/>
              <a:t>Name</a:t>
            </a:r>
            <a:endParaRPr lang="en-US" dirty="0"/>
          </a:p>
          <a:p>
            <a:pPr lvl="1"/>
            <a:r>
              <a:rPr lang="en-US" dirty="0" smtClean="0"/>
              <a:t>                  </a:t>
            </a:r>
            <a:r>
              <a:rPr lang="en-US" dirty="0" smtClean="0"/>
              <a:t>Stores staff  member name .</a:t>
            </a:r>
            <a:endParaRPr lang="en-US" dirty="0"/>
          </a:p>
          <a:p>
            <a:pPr lvl="1"/>
            <a:r>
              <a:rPr lang="en-US" dirty="0" smtClean="0"/>
              <a:t>      </a:t>
            </a:r>
            <a:r>
              <a:rPr lang="en-US" b="1" dirty="0" smtClean="0"/>
              <a:t> </a:t>
            </a:r>
            <a:r>
              <a:rPr lang="en-US" sz="1950" b="1" dirty="0" smtClean="0">
                <a:latin typeface="Palatino Linotype" pitchFamily="18" charset="0"/>
              </a:rPr>
              <a:t>Contact</a:t>
            </a:r>
            <a:endParaRPr lang="en-US" sz="1950" b="1" dirty="0" smtClean="0">
              <a:latin typeface="Palatino Linotype" pitchFamily="18" charset="0"/>
            </a:endParaRPr>
          </a:p>
          <a:p>
            <a:pPr lvl="1"/>
            <a:r>
              <a:rPr lang="en-US" dirty="0" smtClean="0"/>
              <a:t>                  Stores the </a:t>
            </a:r>
            <a:r>
              <a:rPr lang="en-US" dirty="0" smtClean="0"/>
              <a:t>contact of that staff member.</a:t>
            </a:r>
            <a:endParaRPr lang="en-US" dirty="0"/>
          </a:p>
          <a:p>
            <a:endParaRPr lang="en-IN" dirty="0"/>
          </a:p>
        </p:txBody>
      </p:sp>
    </p:spTree>
    <p:extLst>
      <p:ext uri="{BB962C8B-B14F-4D97-AF65-F5344CB8AC3E}">
        <p14:creationId xmlns="" xmlns:p14="http://schemas.microsoft.com/office/powerpoint/2010/main" val="4241806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05F1CA-2ABA-1A1E-7881-4EC1638515F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EBEDEC5-26EF-C4D8-E790-9B88D9996B5F}"/>
              </a:ext>
            </a:extLst>
          </p:cNvPr>
          <p:cNvSpPr>
            <a:spLocks noGrp="1"/>
          </p:cNvSpPr>
          <p:nvPr>
            <p:ph type="title"/>
          </p:nvPr>
        </p:nvSpPr>
        <p:spPr>
          <a:xfrm>
            <a:off x="5689600" y="314301"/>
            <a:ext cx="3473591" cy="357190"/>
          </a:xfrm>
        </p:spPr>
        <p:txBody>
          <a:bodyPr/>
          <a:lstStyle/>
          <a:p>
            <a:r>
              <a:rPr lang="en-IN" dirty="0"/>
              <a:t>Workflow</a:t>
            </a:r>
            <a:endParaRPr dirty="0"/>
          </a:p>
        </p:txBody>
      </p:sp>
      <p:sp>
        <p:nvSpPr>
          <p:cNvPr id="3" name="Text Placeholder 2">
            <a:extLst>
              <a:ext uri="{FF2B5EF4-FFF2-40B4-BE49-F238E27FC236}">
                <a16:creationId xmlns="" xmlns:a16="http://schemas.microsoft.com/office/drawing/2014/main" id="{DD11D93B-06DA-C46F-622F-1452D79EB57C}"/>
              </a:ext>
            </a:extLst>
          </p:cNvPr>
          <p:cNvSpPr>
            <a:spLocks noGrp="1"/>
          </p:cNvSpPr>
          <p:nvPr>
            <p:ph type="body" idx="1"/>
          </p:nvPr>
        </p:nvSpPr>
        <p:spPr>
          <a:xfrm>
            <a:off x="765132" y="814366"/>
            <a:ext cx="12365089" cy="6555641"/>
          </a:xfrm>
        </p:spPr>
        <p:txBody>
          <a:bodyPr/>
          <a:lstStyle/>
          <a:p>
            <a:r>
              <a:rPr lang="en-US" dirty="0"/>
              <a:t>Step 1: Start the Application</a:t>
            </a:r>
          </a:p>
          <a:p>
            <a:r>
              <a:rPr lang="en-US" dirty="0"/>
              <a:t>The Java application starts execution from the main() method.</a:t>
            </a:r>
          </a:p>
          <a:p>
            <a:r>
              <a:rPr lang="en-US" dirty="0"/>
              <a:t>A console menu is displayed to the user with options such as:</a:t>
            </a:r>
          </a:p>
          <a:p>
            <a:r>
              <a:rPr lang="en-US" b="0" dirty="0" smtClean="0"/>
              <a:t>           </a:t>
            </a:r>
            <a:r>
              <a:rPr lang="en-US" b="0" dirty="0" smtClean="0"/>
              <a:t> </a:t>
            </a:r>
            <a:r>
              <a:rPr lang="en-US" b="0" dirty="0" smtClean="0"/>
              <a:t>Add </a:t>
            </a:r>
            <a:r>
              <a:rPr lang="en-US" b="0" dirty="0" smtClean="0"/>
              <a:t>Book</a:t>
            </a:r>
          </a:p>
          <a:p>
            <a:r>
              <a:rPr lang="en-US" b="0" dirty="0" smtClean="0"/>
              <a:t>            Add Staff</a:t>
            </a:r>
          </a:p>
          <a:p>
            <a:r>
              <a:rPr lang="en-US" b="0" dirty="0" smtClean="0"/>
              <a:t>            Remove Staff</a:t>
            </a:r>
            <a:endParaRPr lang="en-US" b="0" dirty="0" smtClean="0"/>
          </a:p>
          <a:p>
            <a:r>
              <a:rPr lang="en-US" b="0" dirty="0" smtClean="0"/>
              <a:t>            Search Book by Author</a:t>
            </a:r>
          </a:p>
          <a:p>
            <a:r>
              <a:rPr lang="en-US" b="0" dirty="0" smtClean="0"/>
              <a:t>            Display All Books</a:t>
            </a:r>
          </a:p>
          <a:p>
            <a:r>
              <a:rPr lang="en-US" b="0" dirty="0" smtClean="0"/>
              <a:t>            Edit Book Details</a:t>
            </a:r>
          </a:p>
          <a:p>
            <a:r>
              <a:rPr lang="en-US" b="0" dirty="0" smtClean="0"/>
              <a:t>            Delete </a:t>
            </a:r>
            <a:r>
              <a:rPr lang="en-US" b="0" dirty="0" smtClean="0"/>
              <a:t>Book</a:t>
            </a:r>
          </a:p>
          <a:p>
            <a:r>
              <a:rPr lang="en-US" b="0" dirty="0" smtClean="0"/>
              <a:t>            Display all staff details</a:t>
            </a:r>
            <a:endParaRPr lang="en-US" dirty="0"/>
          </a:p>
          <a:p>
            <a:r>
              <a:rPr lang="en-US" dirty="0"/>
              <a:t>Step 2: Establish Database Connection</a:t>
            </a:r>
          </a:p>
          <a:p>
            <a:r>
              <a:rPr lang="en-US" dirty="0" smtClean="0"/>
              <a:t>          </a:t>
            </a:r>
            <a:r>
              <a:rPr lang="en-US" b="0" dirty="0" smtClean="0"/>
              <a:t>The </a:t>
            </a:r>
            <a:r>
              <a:rPr lang="en-US" b="0" dirty="0"/>
              <a:t>system establishes a connection to the database using JDBC.</a:t>
            </a:r>
          </a:p>
          <a:p>
            <a:r>
              <a:rPr lang="en-US" b="0" dirty="0" smtClean="0"/>
              <a:t>          </a:t>
            </a:r>
            <a:r>
              <a:rPr lang="en-US" b="0" dirty="0" err="1" smtClean="0"/>
              <a:t>DriverManager</a:t>
            </a:r>
            <a:r>
              <a:rPr lang="en-US" b="0" dirty="0" smtClean="0"/>
              <a:t> </a:t>
            </a:r>
            <a:r>
              <a:rPr lang="en-US" b="0" dirty="0"/>
              <a:t>is used to connect Java with the SQL database.</a:t>
            </a:r>
          </a:p>
          <a:p>
            <a:r>
              <a:rPr lang="en-US" b="0" dirty="0" smtClean="0"/>
              <a:t>          If </a:t>
            </a:r>
            <a:r>
              <a:rPr lang="en-US" b="0" dirty="0"/>
              <a:t>the connection is successful, the system proceeds; otherwise, an error message is displayed.</a:t>
            </a:r>
          </a:p>
          <a:p>
            <a:r>
              <a:rPr lang="en-US" b="0" dirty="0" smtClean="0"/>
              <a:t>          This </a:t>
            </a:r>
            <a:r>
              <a:rPr lang="en-US" b="0" dirty="0"/>
              <a:t>ensures all operations are performed on a live </a:t>
            </a:r>
            <a:r>
              <a:rPr lang="en-US" b="0" dirty="0" smtClean="0"/>
              <a:t>database.</a:t>
            </a:r>
            <a:endParaRPr lang="en-US" dirty="0"/>
          </a:p>
          <a:p>
            <a:r>
              <a:rPr lang="en-US" dirty="0" smtClean="0"/>
              <a:t>Step 3: Accept User Input</a:t>
            </a:r>
          </a:p>
          <a:p>
            <a:r>
              <a:rPr lang="en-US" dirty="0" smtClean="0"/>
              <a:t>         The user selects an option from the console menu.</a:t>
            </a:r>
          </a:p>
          <a:p>
            <a:r>
              <a:rPr lang="en-US" dirty="0" smtClean="0"/>
              <a:t>         For searching by author, the system asks for:</a:t>
            </a:r>
          </a:p>
          <a:p>
            <a:pPr lvl="1"/>
            <a:r>
              <a:rPr lang="en-US" dirty="0" smtClean="0"/>
              <a:t>        </a:t>
            </a:r>
            <a:r>
              <a:rPr lang="en-US" sz="1950" dirty="0" smtClean="0">
                <a:latin typeface="Palatino Linotype" pitchFamily="18" charset="0"/>
              </a:rPr>
              <a:t>Author name.</a:t>
            </a:r>
            <a:endParaRPr lang="en-US" sz="1950" dirty="0" smtClean="0">
              <a:latin typeface="Palatino Linotype" pitchFamily="18" charset="0"/>
            </a:endParaRPr>
          </a:p>
          <a:p>
            <a:r>
              <a:rPr lang="en-US" dirty="0" smtClean="0"/>
              <a:t>         For adding a book, the system asks for:</a:t>
            </a:r>
          </a:p>
          <a:p>
            <a:pPr lvl="1"/>
            <a:r>
              <a:rPr lang="en-US" dirty="0" smtClean="0"/>
              <a:t>        </a:t>
            </a:r>
            <a:r>
              <a:rPr lang="en-US" dirty="0" err="1" smtClean="0"/>
              <a:t>BookID</a:t>
            </a:r>
            <a:r>
              <a:rPr lang="en-US" dirty="0" smtClean="0"/>
              <a:t>, , Category, Name</a:t>
            </a:r>
            <a:r>
              <a:rPr lang="en-US" dirty="0" smtClean="0"/>
              <a:t>, </a:t>
            </a:r>
            <a:r>
              <a:rPr lang="en-US" dirty="0" smtClean="0"/>
              <a:t> Author, Copies</a:t>
            </a:r>
            <a:endParaRPr lang="en-US" dirty="0"/>
          </a:p>
        </p:txBody>
      </p:sp>
      <p:pic>
        <p:nvPicPr>
          <p:cNvPr id="4" name="object 3">
            <a:extLst>
              <a:ext uri="{FF2B5EF4-FFF2-40B4-BE49-F238E27FC236}">
                <a16:creationId xmlns="" xmlns:a16="http://schemas.microsoft.com/office/drawing/2014/main" id="{AFB2FA98-5EA3-0303-744E-A69208A570C3}"/>
              </a:ext>
            </a:extLst>
          </p:cNvPr>
          <p:cNvPicPr/>
          <p:nvPr/>
        </p:nvPicPr>
        <p:blipFill>
          <a:blip r:embed="rId2" cstate="print"/>
          <a:stretch>
            <a:fillRect/>
          </a:stretch>
        </p:blipFill>
        <p:spPr>
          <a:xfrm>
            <a:off x="407942" y="0"/>
            <a:ext cx="2534602" cy="820099"/>
          </a:xfrm>
          <a:prstGeom prst="rect">
            <a:avLst/>
          </a:prstGeom>
        </p:spPr>
      </p:pic>
    </p:spTree>
    <p:extLst>
      <p:ext uri="{BB962C8B-B14F-4D97-AF65-F5344CB8AC3E}">
        <p14:creationId xmlns="" xmlns:p14="http://schemas.microsoft.com/office/powerpoint/2010/main" val="28266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DAE311-5245-1906-EF73-F274055E26F9}"/>
              </a:ext>
            </a:extLst>
          </p:cNvPr>
          <p:cNvSpPr>
            <a:spLocks noGrp="1"/>
          </p:cNvSpPr>
          <p:nvPr>
            <p:ph type="title"/>
          </p:nvPr>
        </p:nvSpPr>
        <p:spPr>
          <a:xfrm>
            <a:off x="5172003" y="533400"/>
            <a:ext cx="3473591" cy="369332"/>
          </a:xfrm>
        </p:spPr>
        <p:txBody>
          <a:bodyPr/>
          <a:lstStyle/>
          <a:p>
            <a:r>
              <a:rPr lang="en-IN" sz="2400" dirty="0"/>
              <a:t>Workflow  </a:t>
            </a:r>
          </a:p>
        </p:txBody>
      </p:sp>
      <p:sp>
        <p:nvSpPr>
          <p:cNvPr id="3" name="Text Placeholder 2">
            <a:extLst>
              <a:ext uri="{FF2B5EF4-FFF2-40B4-BE49-F238E27FC236}">
                <a16:creationId xmlns="" xmlns:a16="http://schemas.microsoft.com/office/drawing/2014/main" id="{951C1052-5398-0ACD-DC04-BE0EEC3E6C24}"/>
              </a:ext>
            </a:extLst>
          </p:cNvPr>
          <p:cNvSpPr>
            <a:spLocks noGrp="1"/>
          </p:cNvSpPr>
          <p:nvPr>
            <p:ph type="body" idx="1"/>
          </p:nvPr>
        </p:nvSpPr>
        <p:spPr>
          <a:xfrm>
            <a:off x="761972" y="1295400"/>
            <a:ext cx="12293651" cy="6763390"/>
          </a:xfrm>
        </p:spPr>
        <p:txBody>
          <a:bodyPr/>
          <a:lstStyle/>
          <a:p>
            <a:r>
              <a:rPr lang="en-US" dirty="0" smtClean="0"/>
              <a:t>Step 4: Validate Book</a:t>
            </a:r>
          </a:p>
          <a:p>
            <a:r>
              <a:rPr lang="en-US" dirty="0" smtClean="0"/>
              <a:t>          Before performing any operation, the system checks:</a:t>
            </a:r>
          </a:p>
          <a:p>
            <a:pPr lvl="1"/>
            <a:r>
              <a:rPr lang="en-US" dirty="0" smtClean="0"/>
              <a:t>        </a:t>
            </a:r>
            <a:r>
              <a:rPr lang="en-US" sz="1950" dirty="0" smtClean="0"/>
              <a:t>If the entered </a:t>
            </a:r>
            <a:r>
              <a:rPr lang="en-US" sz="1950" b="1" dirty="0" smtClean="0"/>
              <a:t>Author exists</a:t>
            </a:r>
            <a:r>
              <a:rPr lang="en-US" sz="1950" dirty="0" smtClean="0"/>
              <a:t> </a:t>
            </a:r>
            <a:r>
              <a:rPr lang="en-US" sz="1950" dirty="0" smtClean="0"/>
              <a:t>in the books table (for search).</a:t>
            </a:r>
          </a:p>
          <a:p>
            <a:pPr lvl="1"/>
            <a:r>
              <a:rPr lang="en-US" sz="1950" dirty="0" smtClean="0"/>
              <a:t>        If the entered </a:t>
            </a:r>
            <a:r>
              <a:rPr lang="en-US" sz="1950" b="1" dirty="0" err="1" smtClean="0"/>
              <a:t>BookID</a:t>
            </a:r>
            <a:r>
              <a:rPr lang="en-US" sz="1950" b="1" dirty="0" smtClean="0"/>
              <a:t> </a:t>
            </a:r>
            <a:r>
              <a:rPr lang="en-US" sz="1950" b="1" dirty="0" smtClean="0"/>
              <a:t>exists</a:t>
            </a:r>
            <a:r>
              <a:rPr lang="en-US" sz="1950" dirty="0" smtClean="0"/>
              <a:t> (for update or delete).</a:t>
            </a:r>
          </a:p>
          <a:p>
            <a:pPr lvl="1"/>
            <a:endParaRPr lang="en-US" dirty="0"/>
          </a:p>
          <a:p>
            <a:r>
              <a:rPr lang="en-US" dirty="0" smtClean="0"/>
              <a:t>Step 5: Check for Duplicate Entry</a:t>
            </a:r>
          </a:p>
          <a:p>
            <a:r>
              <a:rPr lang="en-US" b="0" dirty="0" smtClean="0"/>
              <a:t>            When adding a book, the system executes a SELECT query to check if a book with the same title and    </a:t>
            </a:r>
          </a:p>
          <a:p>
            <a:r>
              <a:rPr lang="en-US" b="0" dirty="0" smtClean="0"/>
              <a:t>            author already exists.</a:t>
            </a:r>
          </a:p>
          <a:p>
            <a:r>
              <a:rPr lang="en-US" b="0" dirty="0" smtClean="0"/>
              <a:t>            If it exists, it updates the </a:t>
            </a:r>
            <a:r>
              <a:rPr lang="en-US" b="0" dirty="0" smtClean="0"/>
              <a:t>copies.</a:t>
            </a:r>
            <a:endParaRPr lang="en-US" b="0" dirty="0" smtClean="0"/>
          </a:p>
          <a:p>
            <a:pPr lvl="1"/>
            <a:endParaRPr lang="en-US" dirty="0"/>
          </a:p>
          <a:p>
            <a:r>
              <a:rPr lang="en-IN" dirty="0"/>
              <a:t>Step 6: Perform Database Operation (CRUD)</a:t>
            </a:r>
          </a:p>
          <a:p>
            <a:r>
              <a:rPr lang="en-IN" dirty="0" smtClean="0"/>
              <a:t>           Based on the selected option:</a:t>
            </a:r>
          </a:p>
          <a:p>
            <a:r>
              <a:rPr lang="en-IN" b="0" dirty="0" smtClean="0"/>
              <a:t>               Add Book (Create)</a:t>
            </a:r>
            <a:br>
              <a:rPr lang="en-IN" b="0" dirty="0" smtClean="0"/>
            </a:br>
            <a:r>
              <a:rPr lang="en-IN" b="0" dirty="0" smtClean="0"/>
              <a:t>               → INSERT book into Books table</a:t>
            </a:r>
          </a:p>
          <a:p>
            <a:r>
              <a:rPr lang="en-IN" b="0" dirty="0" smtClean="0"/>
              <a:t>               Search by Author (Read)</a:t>
            </a:r>
            <a:br>
              <a:rPr lang="en-IN" b="0" dirty="0" smtClean="0"/>
            </a:br>
            <a:r>
              <a:rPr lang="en-IN" b="0" dirty="0" smtClean="0"/>
              <a:t>               → SELECT records and display all books</a:t>
            </a:r>
          </a:p>
          <a:p>
            <a:r>
              <a:rPr lang="en-IN" b="0" dirty="0" smtClean="0"/>
              <a:t>              Edit Book details (Update)</a:t>
            </a:r>
            <a:br>
              <a:rPr lang="en-IN" b="0" dirty="0" smtClean="0"/>
            </a:br>
            <a:r>
              <a:rPr lang="en-IN" b="0" dirty="0" smtClean="0"/>
              <a:t>               → UPDATE book details</a:t>
            </a:r>
          </a:p>
          <a:p>
            <a:r>
              <a:rPr lang="en-IN" b="0" dirty="0" smtClean="0"/>
              <a:t>              Delete Book(Delete)</a:t>
            </a:r>
            <a:br>
              <a:rPr lang="en-IN" b="0" dirty="0" smtClean="0"/>
            </a:br>
            <a:r>
              <a:rPr lang="en-IN" b="0" dirty="0" smtClean="0"/>
              <a:t>               → DELETE books if not needed.</a:t>
            </a:r>
          </a:p>
          <a:p>
            <a:pPr lvl="1"/>
            <a:endParaRPr lang="en-US" dirty="0" smtClean="0"/>
          </a:p>
          <a:p>
            <a:pPr lvl="1"/>
            <a:endParaRPr lang="en-US" dirty="0"/>
          </a:p>
          <a:p>
            <a:r>
              <a:rPr lang="en-IN" dirty="0" smtClean="0"/>
              <a:t>S</a:t>
            </a:r>
            <a:endParaRPr lang="en-IN" dirty="0"/>
          </a:p>
        </p:txBody>
      </p:sp>
      <p:pic>
        <p:nvPicPr>
          <p:cNvPr id="6" name="object 3">
            <a:extLst>
              <a:ext uri="{FF2B5EF4-FFF2-40B4-BE49-F238E27FC236}">
                <a16:creationId xmlns="" xmlns:a16="http://schemas.microsoft.com/office/drawing/2014/main" id="{0215A734-770E-4B1C-854D-523619E4F154}"/>
              </a:ext>
            </a:extLst>
          </p:cNvPr>
          <p:cNvPicPr/>
          <p:nvPr/>
        </p:nvPicPr>
        <p:blipFill>
          <a:blip r:embed="rId2" cstate="print"/>
          <a:stretch>
            <a:fillRect/>
          </a:stretch>
        </p:blipFill>
        <p:spPr>
          <a:xfrm>
            <a:off x="431800" y="228600"/>
            <a:ext cx="2534602" cy="820099"/>
          </a:xfrm>
          <a:prstGeom prst="rect">
            <a:avLst/>
          </a:prstGeom>
        </p:spPr>
      </p:pic>
    </p:spTree>
    <p:extLst>
      <p:ext uri="{BB962C8B-B14F-4D97-AF65-F5344CB8AC3E}">
        <p14:creationId xmlns="" xmlns:p14="http://schemas.microsoft.com/office/powerpoint/2010/main" val="120441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34E3B7-BE02-7FC4-78FF-DDDC0DBF22B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113830C-6C9C-C345-D820-85BEDF5175DA}"/>
              </a:ext>
            </a:extLst>
          </p:cNvPr>
          <p:cNvSpPr>
            <a:spLocks noGrp="1"/>
          </p:cNvSpPr>
          <p:nvPr>
            <p:ph type="title"/>
          </p:nvPr>
        </p:nvSpPr>
        <p:spPr>
          <a:xfrm>
            <a:off x="5551478" y="385738"/>
            <a:ext cx="3184860" cy="642942"/>
          </a:xfrm>
        </p:spPr>
        <p:txBody>
          <a:bodyPr/>
          <a:lstStyle/>
          <a:p>
            <a:r>
              <a:rPr lang="en-IN" sz="2400" dirty="0"/>
              <a:t>Workflow Diagram </a:t>
            </a:r>
          </a:p>
        </p:txBody>
      </p:sp>
      <p:sp>
        <p:nvSpPr>
          <p:cNvPr id="3" name="Text Placeholder 2">
            <a:extLst>
              <a:ext uri="{FF2B5EF4-FFF2-40B4-BE49-F238E27FC236}">
                <a16:creationId xmlns="" xmlns:a16="http://schemas.microsoft.com/office/drawing/2014/main" id="{6F557465-87DA-3F01-8A70-509934031659}"/>
              </a:ext>
            </a:extLst>
          </p:cNvPr>
          <p:cNvSpPr>
            <a:spLocks noGrp="1"/>
          </p:cNvSpPr>
          <p:nvPr>
            <p:ph type="body" idx="1"/>
          </p:nvPr>
        </p:nvSpPr>
        <p:spPr>
          <a:xfrm>
            <a:off x="761974" y="1447800"/>
            <a:ext cx="12293651" cy="854080"/>
          </a:xfrm>
        </p:spPr>
        <p:txBody>
          <a:bodyPr/>
          <a:lstStyle/>
          <a:p>
            <a:pPr lvl="1"/>
            <a:endParaRPr lang="en-US" dirty="0"/>
          </a:p>
          <a:p>
            <a:pPr lvl="1"/>
            <a:endParaRPr lang="en-US" dirty="0"/>
          </a:p>
          <a:p>
            <a:endParaRPr lang="en-IN" dirty="0"/>
          </a:p>
        </p:txBody>
      </p:sp>
      <p:pic>
        <p:nvPicPr>
          <p:cNvPr id="4" name="object 3">
            <a:extLst>
              <a:ext uri="{FF2B5EF4-FFF2-40B4-BE49-F238E27FC236}">
                <a16:creationId xmlns="" xmlns:a16="http://schemas.microsoft.com/office/drawing/2014/main" id="{582559B0-AE61-1402-002C-F3B8F73EEACE}"/>
              </a:ext>
            </a:extLst>
          </p:cNvPr>
          <p:cNvPicPr/>
          <p:nvPr/>
        </p:nvPicPr>
        <p:blipFill>
          <a:blip r:embed="rId2" cstate="print"/>
          <a:stretch>
            <a:fillRect/>
          </a:stretch>
        </p:blipFill>
        <p:spPr>
          <a:xfrm>
            <a:off x="431800" y="228600"/>
            <a:ext cx="2534602" cy="820099"/>
          </a:xfrm>
          <a:prstGeom prst="rect">
            <a:avLst/>
          </a:prstGeom>
        </p:spPr>
      </p:pic>
      <p:pic>
        <p:nvPicPr>
          <p:cNvPr id="5" name="Picture 2" descr="C:\Users\vamsi\Downloads\ChatGPT Image Feb 14, 2026, 10_35_09 AM.png"/>
          <p:cNvPicPr>
            <a:picLocks noChangeAspect="1" noChangeArrowheads="1"/>
          </p:cNvPicPr>
          <p:nvPr/>
        </p:nvPicPr>
        <p:blipFill>
          <a:blip r:embed="rId3"/>
          <a:srcRect/>
          <a:stretch>
            <a:fillRect/>
          </a:stretch>
        </p:blipFill>
        <p:spPr bwMode="auto">
          <a:xfrm>
            <a:off x="2908272" y="1385870"/>
            <a:ext cx="8501122" cy="6215106"/>
          </a:xfrm>
          <a:prstGeom prst="rect">
            <a:avLst/>
          </a:prstGeom>
          <a:noFill/>
        </p:spPr>
      </p:pic>
    </p:spTree>
    <p:extLst>
      <p:ext uri="{BB962C8B-B14F-4D97-AF65-F5344CB8AC3E}">
        <p14:creationId xmlns="" xmlns:p14="http://schemas.microsoft.com/office/powerpoint/2010/main" val="305170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a:t>
            </a:r>
          </a:p>
        </p:txBody>
      </p:sp>
      <p:sp>
        <p:nvSpPr>
          <p:cNvPr id="3" name="Text Placeholder 2"/>
          <p:cNvSpPr>
            <a:spLocks noGrp="1"/>
          </p:cNvSpPr>
          <p:nvPr>
            <p:ph type="body" idx="1"/>
          </p:nvPr>
        </p:nvSpPr>
        <p:spPr>
          <a:xfrm>
            <a:off x="965200" y="1905000"/>
            <a:ext cx="12293651" cy="2954655"/>
          </a:xfrm>
        </p:spPr>
        <p:txBody>
          <a:bodyPr/>
          <a:lstStyle/>
          <a:p>
            <a:pPr marL="342900" indent="-342900">
              <a:buFont typeface="Arial" panose="020B0604020202020204" pitchFamily="34" charset="0"/>
              <a:buChar char="•"/>
            </a:pPr>
            <a:r>
              <a:rPr lang="en-US" sz="2400" b="0" dirty="0"/>
              <a:t>The proposed system is a console-based </a:t>
            </a:r>
            <a:r>
              <a:rPr lang="en-US" sz="2400" b="0" dirty="0" smtClean="0"/>
              <a:t>Library Management System developed </a:t>
            </a:r>
            <a:r>
              <a:rPr lang="en-US" sz="2400" b="0" dirty="0"/>
              <a:t>using Core Java, JDBC, and a relational database. It is designed to overcome the limitations of manual and unstructured </a:t>
            </a:r>
            <a:r>
              <a:rPr lang="en-US" sz="2400" b="0" dirty="0" smtClean="0"/>
              <a:t>tracking of books by </a:t>
            </a:r>
            <a:r>
              <a:rPr lang="en-US" sz="2400" b="0" dirty="0"/>
              <a:t>providing a centralized, automated, and validation-driven solution.</a:t>
            </a:r>
          </a:p>
          <a:p>
            <a:pPr marL="342900" indent="-342900">
              <a:buFont typeface="Arial" panose="020B0604020202020204" pitchFamily="34" charset="0"/>
              <a:buChar char="•"/>
            </a:pPr>
            <a:endParaRPr lang="en-US" sz="2400" b="0" dirty="0"/>
          </a:p>
          <a:p>
            <a:pPr marL="342900" indent="-342900">
              <a:buFont typeface="Arial" panose="020B0604020202020204" pitchFamily="34" charset="0"/>
              <a:buChar char="•"/>
            </a:pPr>
            <a:r>
              <a:rPr lang="en-US" sz="2400" b="0" dirty="0"/>
              <a:t>In this system, all </a:t>
            </a:r>
            <a:r>
              <a:rPr lang="en-US" sz="2400" b="0" dirty="0" smtClean="0"/>
              <a:t>book, </a:t>
            </a:r>
            <a:r>
              <a:rPr lang="en-US" sz="2400" b="0" dirty="0" smtClean="0"/>
              <a:t>admin</a:t>
            </a:r>
            <a:r>
              <a:rPr lang="en-US" sz="2400" b="0" dirty="0" smtClean="0"/>
              <a:t>, </a:t>
            </a:r>
            <a:r>
              <a:rPr lang="en-US" sz="2400" b="0" dirty="0"/>
              <a:t>and </a:t>
            </a:r>
            <a:r>
              <a:rPr lang="en-US" sz="2400" b="0" dirty="0" smtClean="0"/>
              <a:t>Staff </a:t>
            </a:r>
            <a:r>
              <a:rPr lang="en-US" sz="2400" b="0" dirty="0" smtClean="0"/>
              <a:t>details </a:t>
            </a:r>
            <a:r>
              <a:rPr lang="en-US" sz="2400" b="0" dirty="0"/>
              <a:t>are stored in a relational database with well-defined relationships. The Java application interacts with the database using JDBC, enabling secure and efficient execution of SQL queries.</a:t>
            </a:r>
          </a:p>
        </p:txBody>
      </p:sp>
      <p:pic>
        <p:nvPicPr>
          <p:cNvPr id="4" name="object 3">
            <a:extLst>
              <a:ext uri="{FF2B5EF4-FFF2-40B4-BE49-F238E27FC236}">
                <a16:creationId xmlns="" xmlns:a16="http://schemas.microsoft.com/office/drawing/2014/main" id="{878994DD-48AE-BE73-C35E-75CCCE87748D}"/>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23F5A5-5DB9-D905-A5B0-98674850541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972A9E2-AC49-F4C8-4887-F5150183DB3E}"/>
              </a:ext>
            </a:extLst>
          </p:cNvPr>
          <p:cNvSpPr>
            <a:spLocks noGrp="1"/>
          </p:cNvSpPr>
          <p:nvPr>
            <p:ph type="title"/>
          </p:nvPr>
        </p:nvSpPr>
        <p:spPr>
          <a:xfrm>
            <a:off x="5262747" y="881554"/>
            <a:ext cx="3473591" cy="430887"/>
          </a:xfrm>
        </p:spPr>
        <p:txBody>
          <a:bodyPr/>
          <a:lstStyle/>
          <a:p>
            <a:r>
              <a:rPr lang="en-IN" sz="2800" dirty="0"/>
              <a:t>Role Contributions </a:t>
            </a:r>
            <a:endParaRPr sz="2800" dirty="0"/>
          </a:p>
        </p:txBody>
      </p:sp>
      <p:sp>
        <p:nvSpPr>
          <p:cNvPr id="3" name="Text Placeholder 2">
            <a:extLst>
              <a:ext uri="{FF2B5EF4-FFF2-40B4-BE49-F238E27FC236}">
                <a16:creationId xmlns="" xmlns:a16="http://schemas.microsoft.com/office/drawing/2014/main" id="{7A931ABD-2591-0726-0D22-B84B2CF22532}"/>
              </a:ext>
            </a:extLst>
          </p:cNvPr>
          <p:cNvSpPr>
            <a:spLocks noGrp="1"/>
          </p:cNvSpPr>
          <p:nvPr>
            <p:ph type="body" idx="1"/>
          </p:nvPr>
        </p:nvSpPr>
        <p:spPr>
          <a:xfrm>
            <a:off x="761974" y="1600200"/>
            <a:ext cx="12293651" cy="4616648"/>
          </a:xfrm>
        </p:spPr>
        <p:txBody>
          <a:bodyPr/>
          <a:lstStyle/>
          <a:p>
            <a:r>
              <a:rPr lang="en-IN" sz="2000" b="0" dirty="0" smtClean="0"/>
              <a:t>B. </a:t>
            </a:r>
            <a:r>
              <a:rPr lang="en-IN" sz="2000" b="0" dirty="0" err="1" smtClean="0"/>
              <a:t>Chaitanya</a:t>
            </a:r>
            <a:r>
              <a:rPr lang="en-IN" sz="2000" b="0" dirty="0" smtClean="0"/>
              <a:t>– </a:t>
            </a:r>
            <a:r>
              <a:rPr lang="en-IN" sz="2000" b="0" dirty="0"/>
              <a:t>Java Application Developer</a:t>
            </a:r>
          </a:p>
          <a:p>
            <a:r>
              <a:rPr lang="en-IN" sz="2000" b="0" dirty="0"/>
              <a:t>Designed the overall application flow</a:t>
            </a:r>
          </a:p>
          <a:p>
            <a:r>
              <a:rPr lang="en-IN" sz="2000" b="0" dirty="0"/>
              <a:t>Implemented core Java logic using control structures and classes</a:t>
            </a:r>
          </a:p>
          <a:p>
            <a:endParaRPr lang="en-IN" sz="2000" b="0" dirty="0"/>
          </a:p>
          <a:p>
            <a:r>
              <a:rPr lang="en-IN" sz="2000" b="0" dirty="0" smtClean="0"/>
              <a:t>K. </a:t>
            </a:r>
            <a:r>
              <a:rPr lang="en-IN" sz="2000" b="0" dirty="0" err="1" smtClean="0"/>
              <a:t>Venkatesh</a:t>
            </a:r>
            <a:r>
              <a:rPr lang="en-IN" sz="2000" b="0" dirty="0" smtClean="0"/>
              <a:t>– </a:t>
            </a:r>
            <a:r>
              <a:rPr lang="en-IN" sz="2000" b="0" dirty="0"/>
              <a:t>Database Designer</a:t>
            </a:r>
          </a:p>
          <a:p>
            <a:r>
              <a:rPr lang="en-IN" sz="2000" b="0" dirty="0"/>
              <a:t>Designed relational database schema</a:t>
            </a:r>
          </a:p>
          <a:p>
            <a:r>
              <a:rPr lang="en-IN" sz="2000" b="0" dirty="0" smtClean="0"/>
              <a:t>Creating </a:t>
            </a:r>
            <a:r>
              <a:rPr lang="en-IN" sz="2000" b="0" dirty="0" smtClean="0"/>
              <a:t>Books, </a:t>
            </a:r>
            <a:r>
              <a:rPr lang="en-IN" sz="2000" b="0" dirty="0" smtClean="0"/>
              <a:t>Admin </a:t>
            </a:r>
            <a:r>
              <a:rPr lang="en-IN" sz="2000" b="0" dirty="0" smtClean="0"/>
              <a:t>and Staff </a:t>
            </a:r>
            <a:r>
              <a:rPr lang="en-IN" sz="2000" b="0" dirty="0" smtClean="0"/>
              <a:t>tables</a:t>
            </a:r>
            <a:endParaRPr lang="en-IN" sz="2000" b="0" dirty="0"/>
          </a:p>
          <a:p>
            <a:endParaRPr lang="en-IN" sz="2000" b="0" dirty="0"/>
          </a:p>
          <a:p>
            <a:r>
              <a:rPr lang="en-IN" sz="2000" b="0" dirty="0" smtClean="0"/>
              <a:t>K. </a:t>
            </a:r>
            <a:r>
              <a:rPr lang="en-IN" sz="2000" b="0" dirty="0" err="1" smtClean="0"/>
              <a:t>Rupesh</a:t>
            </a:r>
            <a:r>
              <a:rPr lang="en-IN" sz="2000" b="0" dirty="0" smtClean="0"/>
              <a:t> </a:t>
            </a:r>
            <a:r>
              <a:rPr lang="en-IN" sz="2000" b="0" dirty="0"/>
              <a:t>– JDBC &amp; Validation Developer</a:t>
            </a:r>
          </a:p>
          <a:p>
            <a:r>
              <a:rPr lang="en-IN" sz="2000" b="0" dirty="0"/>
              <a:t>Implemented JDBC connectivity</a:t>
            </a:r>
          </a:p>
          <a:p>
            <a:r>
              <a:rPr lang="en-IN" sz="2000" b="0" dirty="0"/>
              <a:t>Wrote SQL queries for CRUD operations</a:t>
            </a:r>
          </a:p>
          <a:p>
            <a:endParaRPr lang="en-IN" sz="2000" b="0" dirty="0"/>
          </a:p>
          <a:p>
            <a:r>
              <a:rPr lang="en-IN" sz="2000" b="0" dirty="0" smtClean="0"/>
              <a:t>D. </a:t>
            </a:r>
            <a:r>
              <a:rPr lang="en-IN" sz="2000" b="0" dirty="0" err="1" smtClean="0"/>
              <a:t>Jashuva</a:t>
            </a:r>
            <a:r>
              <a:rPr lang="en-IN" sz="2000" b="0" dirty="0" smtClean="0"/>
              <a:t> – </a:t>
            </a:r>
            <a:r>
              <a:rPr lang="en-IN" sz="2000" b="0" dirty="0"/>
              <a:t>Testing &amp; Documentation</a:t>
            </a:r>
          </a:p>
          <a:p>
            <a:r>
              <a:rPr lang="en-IN" sz="2000" b="0" dirty="0"/>
              <a:t>Tested application with different input cases</a:t>
            </a:r>
          </a:p>
          <a:p>
            <a:r>
              <a:rPr lang="en-IN" sz="2000" b="0" dirty="0"/>
              <a:t>Prepared documentation, PPT, and Review-1 materials</a:t>
            </a:r>
          </a:p>
        </p:txBody>
      </p:sp>
      <p:pic>
        <p:nvPicPr>
          <p:cNvPr id="4" name="object 3">
            <a:extLst>
              <a:ext uri="{FF2B5EF4-FFF2-40B4-BE49-F238E27FC236}">
                <a16:creationId xmlns="" xmlns:a16="http://schemas.microsoft.com/office/drawing/2014/main" id="{A094E5C9-9053-3569-DCA7-F970880FBC1A}"/>
              </a:ext>
            </a:extLst>
          </p:cNvPr>
          <p:cNvPicPr/>
          <p:nvPr/>
        </p:nvPicPr>
        <p:blipFill>
          <a:blip r:embed="rId2" cstate="print"/>
          <a:stretch>
            <a:fillRect/>
          </a:stretch>
        </p:blipFill>
        <p:spPr>
          <a:xfrm>
            <a:off x="431800" y="228600"/>
            <a:ext cx="2534602" cy="820099"/>
          </a:xfrm>
          <a:prstGeom prst="rect">
            <a:avLst/>
          </a:prstGeom>
        </p:spPr>
      </p:pic>
    </p:spTree>
    <p:extLst>
      <p:ext uri="{BB962C8B-B14F-4D97-AF65-F5344CB8AC3E}">
        <p14:creationId xmlns="" xmlns:p14="http://schemas.microsoft.com/office/powerpoint/2010/main" val="129747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7164" y="385738"/>
            <a:ext cx="3473591" cy="353943"/>
          </a:xfrm>
        </p:spPr>
        <p:txBody>
          <a:bodyPr/>
          <a:lstStyle/>
          <a:p>
            <a:r>
              <a:t>Technologies Used</a:t>
            </a:r>
          </a:p>
        </p:txBody>
      </p:sp>
      <p:sp>
        <p:nvSpPr>
          <p:cNvPr id="3" name="Text Placeholder 2"/>
          <p:cNvSpPr>
            <a:spLocks noGrp="1"/>
          </p:cNvSpPr>
          <p:nvPr>
            <p:ph type="body" idx="1"/>
          </p:nvPr>
        </p:nvSpPr>
        <p:spPr>
          <a:xfrm>
            <a:off x="765132" y="1028680"/>
            <a:ext cx="12293651" cy="6771084"/>
          </a:xfrm>
        </p:spPr>
        <p:txBody>
          <a:bodyPr/>
          <a:lstStyle/>
          <a:p>
            <a:r>
              <a:rPr lang="en-IN" sz="2000" b="0" dirty="0"/>
              <a:t>1. Java (Core Java)</a:t>
            </a:r>
          </a:p>
          <a:p>
            <a:r>
              <a:rPr lang="en-IN" sz="2000" b="0" dirty="0"/>
              <a:t>Used for developing the application logic</a:t>
            </a:r>
          </a:p>
          <a:p>
            <a:r>
              <a:rPr lang="en-IN" sz="2000" b="0" dirty="0"/>
              <a:t>Implemented classes, objects, methods, loops, and conditionals</a:t>
            </a:r>
          </a:p>
          <a:p>
            <a:r>
              <a:rPr lang="en-IN" sz="2000" b="0" dirty="0"/>
              <a:t>Handled user input and output through the console</a:t>
            </a:r>
          </a:p>
          <a:p>
            <a:endParaRPr lang="en-IN" sz="2000" b="0" dirty="0"/>
          </a:p>
          <a:p>
            <a:r>
              <a:rPr lang="en-IN" sz="2000" b="0" dirty="0"/>
              <a:t>2. JDBC (Java Database Connectivity)</a:t>
            </a:r>
          </a:p>
          <a:p>
            <a:r>
              <a:rPr lang="en-IN" sz="2000" b="0" dirty="0"/>
              <a:t>Used to connect Java application with the database</a:t>
            </a:r>
          </a:p>
          <a:p>
            <a:r>
              <a:rPr lang="en-IN" sz="2000" b="0" dirty="0"/>
              <a:t>Executed SQL queries using </a:t>
            </a:r>
            <a:r>
              <a:rPr lang="en-IN" sz="2000" b="0" dirty="0" smtClean="0"/>
              <a:t>Prepared Statement</a:t>
            </a:r>
            <a:endParaRPr lang="en-IN" sz="2000" b="0" dirty="0"/>
          </a:p>
          <a:p>
            <a:endParaRPr lang="en-IN" sz="2000" b="0" dirty="0"/>
          </a:p>
          <a:p>
            <a:r>
              <a:rPr lang="en-IN" sz="2000" b="0" dirty="0"/>
              <a:t>3. Relational Database (MySQL / Oracle)</a:t>
            </a:r>
          </a:p>
          <a:p>
            <a:r>
              <a:rPr lang="en-IN" sz="2000" b="0" dirty="0"/>
              <a:t>Stored </a:t>
            </a:r>
            <a:r>
              <a:rPr lang="en-IN" sz="2000" b="0" dirty="0" smtClean="0"/>
              <a:t>Books, </a:t>
            </a:r>
            <a:r>
              <a:rPr lang="en-IN" sz="2000" b="0" dirty="0" smtClean="0"/>
              <a:t>Admin, Staff </a:t>
            </a:r>
            <a:r>
              <a:rPr lang="en-IN" sz="2000" b="0" dirty="0"/>
              <a:t>data</a:t>
            </a:r>
          </a:p>
          <a:p>
            <a:r>
              <a:rPr lang="en-IN" sz="2000" b="0" dirty="0"/>
              <a:t>Implemented table relationships</a:t>
            </a:r>
          </a:p>
          <a:p>
            <a:endParaRPr lang="en-IN" sz="2000" b="0" dirty="0"/>
          </a:p>
          <a:p>
            <a:r>
              <a:rPr lang="en-IN" sz="2000" b="0" dirty="0"/>
              <a:t>4. SQL</a:t>
            </a:r>
          </a:p>
          <a:p>
            <a:r>
              <a:rPr lang="en-IN" sz="2000" b="0" dirty="0"/>
              <a:t>Used for creating tables and defining constraints</a:t>
            </a:r>
          </a:p>
          <a:p>
            <a:r>
              <a:rPr lang="en-IN" sz="2000" b="0" dirty="0"/>
              <a:t>Used SELECT, INSERT, UPDATE, and DELETE </a:t>
            </a:r>
            <a:r>
              <a:rPr lang="en-IN" sz="2000" b="0" dirty="0" smtClean="0"/>
              <a:t>queries</a:t>
            </a:r>
          </a:p>
          <a:p>
            <a:endParaRPr lang="en-IN" sz="2000" b="0" dirty="0"/>
          </a:p>
          <a:p>
            <a:r>
              <a:rPr lang="en-IN" sz="2000" b="0" dirty="0"/>
              <a:t>5. Development Tools</a:t>
            </a:r>
          </a:p>
          <a:p>
            <a:r>
              <a:rPr lang="en-IN" sz="2000" b="0" dirty="0" smtClean="0"/>
              <a:t>Java JDK</a:t>
            </a:r>
            <a:endParaRPr lang="en-IN" sz="2000" b="0" dirty="0"/>
          </a:p>
          <a:p>
            <a:r>
              <a:rPr lang="en-IN" sz="2000" b="0" dirty="0"/>
              <a:t>IDE (Eclipse / IntelliJ / </a:t>
            </a:r>
            <a:r>
              <a:rPr lang="en-IN" sz="2000" b="0" dirty="0" err="1"/>
              <a:t>NetBeans</a:t>
            </a:r>
            <a:r>
              <a:rPr lang="en-IN" sz="2000" b="0" dirty="0" smtClean="0"/>
              <a:t>)</a:t>
            </a:r>
          </a:p>
          <a:p>
            <a:r>
              <a:rPr lang="en-IN" sz="2000" b="0" dirty="0" err="1" smtClean="0"/>
              <a:t>MySQL</a:t>
            </a:r>
            <a:r>
              <a:rPr lang="en-IN" sz="2000" b="0" dirty="0" smtClean="0"/>
              <a:t> Connector</a:t>
            </a:r>
            <a:endParaRPr lang="en-IN" sz="2000" b="0" dirty="0"/>
          </a:p>
          <a:p>
            <a:r>
              <a:rPr lang="en-IN" sz="2000" b="0" dirty="0"/>
              <a:t>Database client (MySQL Workbench / SQL Developer)</a:t>
            </a:r>
          </a:p>
        </p:txBody>
      </p:sp>
      <p:pic>
        <p:nvPicPr>
          <p:cNvPr id="4" name="object 3">
            <a:extLst>
              <a:ext uri="{FF2B5EF4-FFF2-40B4-BE49-F238E27FC236}">
                <a16:creationId xmlns="" xmlns:a16="http://schemas.microsoft.com/office/drawing/2014/main" id="{2E1E6528-08A4-BDE1-5EDA-49253F87432F}"/>
              </a:ext>
            </a:extLst>
          </p:cNvPr>
          <p:cNvPicPr/>
          <p:nvPr/>
        </p:nvPicPr>
        <p:blipFill>
          <a:blip r:embed="rId2" cstate="print"/>
          <a:stretch>
            <a:fillRect/>
          </a:stretch>
        </p:blipFill>
        <p:spPr>
          <a:xfrm>
            <a:off x="407942" y="0"/>
            <a:ext cx="2534602" cy="8200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a:xfrm>
            <a:off x="660400" y="1447800"/>
            <a:ext cx="12293651" cy="5539978"/>
          </a:xfrm>
        </p:spPr>
        <p:txBody>
          <a:bodyPr/>
          <a:lstStyle/>
          <a:p>
            <a:pPr marL="342900" indent="-342900">
              <a:buFont typeface="Arial" panose="020B0604020202020204" pitchFamily="34" charset="0"/>
              <a:buChar char="•"/>
            </a:pPr>
            <a:r>
              <a:rPr lang="en-US" sz="2400" b="0" dirty="0"/>
              <a:t>The </a:t>
            </a:r>
            <a:r>
              <a:rPr lang="en-US" sz="2400" b="0" dirty="0" smtClean="0"/>
              <a:t>Library Management System </a:t>
            </a:r>
            <a:r>
              <a:rPr lang="en-US" sz="2400" b="0" dirty="0"/>
              <a:t>successfully demonstrates the implementation of a pure Java-based backend application using JDBC and a relational database. The project automates the process of </a:t>
            </a:r>
            <a:r>
              <a:rPr lang="en-US" sz="2400" b="0" dirty="0" smtClean="0"/>
              <a:t>tracking books while </a:t>
            </a:r>
            <a:r>
              <a:rPr lang="en-US" sz="2400" b="0" dirty="0"/>
              <a:t>ensuring accuracy, validation, and data integrity.</a:t>
            </a:r>
          </a:p>
          <a:p>
            <a:pPr marL="342900" indent="-342900">
              <a:buFont typeface="Arial" panose="020B0604020202020204" pitchFamily="34" charset="0"/>
              <a:buChar char="•"/>
            </a:pPr>
            <a:r>
              <a:rPr lang="en-US" sz="2400" b="0" dirty="0"/>
              <a:t>By separating data into </a:t>
            </a:r>
            <a:r>
              <a:rPr lang="en-US" sz="2400" b="0" dirty="0" smtClean="0"/>
              <a:t>Books, </a:t>
            </a:r>
            <a:r>
              <a:rPr lang="en-US" sz="2400" b="0" dirty="0" smtClean="0"/>
              <a:t>Admin</a:t>
            </a:r>
            <a:r>
              <a:rPr lang="en-US" sz="2400" b="0" dirty="0" smtClean="0"/>
              <a:t>, </a:t>
            </a:r>
            <a:r>
              <a:rPr lang="en-US" sz="2400" b="0" dirty="0"/>
              <a:t>and </a:t>
            </a:r>
            <a:r>
              <a:rPr lang="en-US" sz="2400" b="0" dirty="0" smtClean="0"/>
              <a:t>Staff</a:t>
            </a:r>
            <a:r>
              <a:rPr lang="en-US" sz="2400" b="0" dirty="0" smtClean="0"/>
              <a:t> </a:t>
            </a:r>
            <a:r>
              <a:rPr lang="en-US" sz="2400" b="0" dirty="0"/>
              <a:t>tables, the system follows proper database normalization and avoids redundancy. The use of JDBC enables seamless interaction between the Java application and the database, allowing efficient execution of CRUD operations.</a:t>
            </a:r>
          </a:p>
          <a:p>
            <a:pPr marL="342900" indent="-342900">
              <a:buFont typeface="Arial" panose="020B0604020202020204" pitchFamily="34" charset="0"/>
              <a:buChar char="•"/>
            </a:pPr>
            <a:r>
              <a:rPr lang="en-US" sz="2400" b="0" dirty="0"/>
              <a:t>The system effectively prevents </a:t>
            </a:r>
            <a:r>
              <a:rPr lang="en-US" sz="2400" b="0" dirty="0" smtClean="0"/>
              <a:t>time consumption for both librarians and users through </a:t>
            </a:r>
            <a:r>
              <a:rPr lang="en-US" sz="2400" b="0" dirty="0"/>
              <a:t>both application-level validation and database constraints. Since the project does not involve any frontend technologies, it strongly emphasizes core Java concepts, JDBC connectivity, and SQL fundamentals.</a:t>
            </a:r>
          </a:p>
          <a:p>
            <a:pPr marL="342900" indent="-342900">
              <a:buFont typeface="Arial" panose="020B0604020202020204" pitchFamily="34" charset="0"/>
              <a:buChar char="•"/>
            </a:pPr>
            <a:r>
              <a:rPr lang="en-US" sz="2400" b="0" dirty="0"/>
              <a:t>Overall, this project serves as a strong foundation for understanding backend development using Java and can be extended in the future by adding a graphical user interface or web-based frontend.</a:t>
            </a:r>
          </a:p>
        </p:txBody>
      </p:sp>
      <p:pic>
        <p:nvPicPr>
          <p:cNvPr id="4" name="object 3">
            <a:extLst>
              <a:ext uri="{FF2B5EF4-FFF2-40B4-BE49-F238E27FC236}">
                <a16:creationId xmlns="" xmlns:a16="http://schemas.microsoft.com/office/drawing/2014/main" id="{30FBD2A8-439D-647A-43CB-2D33EBCD3436}"/>
              </a:ext>
            </a:extLst>
          </p:cNvPr>
          <p:cNvPicPr/>
          <p:nvPr/>
        </p:nvPicPr>
        <p:blipFill>
          <a:blip r:embed="rId2" cstate="print"/>
          <a:stretch>
            <a:fillRect/>
          </a:stretch>
        </p:blipFill>
        <p:spPr>
          <a:xfrm>
            <a:off x="431800" y="228600"/>
            <a:ext cx="2534602" cy="8200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1644</Words>
  <Application>Microsoft Office PowerPoint</Application>
  <PresentationFormat>Custom</PresentationFormat>
  <Paragraphs>207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Library Management System</vt:lpstr>
      <vt:lpstr>       Objective</vt:lpstr>
      <vt:lpstr>Problem Statement</vt:lpstr>
      <vt:lpstr>System Overview</vt:lpstr>
      <vt:lpstr>System Overview</vt:lpstr>
      <vt:lpstr>System Overview</vt:lpstr>
      <vt:lpstr>System Overview Diagram</vt:lpstr>
      <vt:lpstr>  Database Design – Three Main Tables</vt:lpstr>
      <vt:lpstr>Slide 9</vt:lpstr>
      <vt:lpstr>Workflow</vt:lpstr>
      <vt:lpstr>Workflow  </vt:lpstr>
      <vt:lpstr>Workflow Diagram </vt:lpstr>
      <vt:lpstr>Proposed System</vt:lpstr>
      <vt:lpstr>Role Contributions </vt:lpstr>
      <vt:lpstr>Technologies Used</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dc:title>
  <dc:creator>Jahnavi Goljana</dc:creator>
  <cp:lastModifiedBy>USERSS</cp:lastModifiedBy>
  <cp:revision>40</cp:revision>
  <dcterms:created xsi:type="dcterms:W3CDTF">2025-10-12T06:33:00Z</dcterms:created>
  <dcterms:modified xsi:type="dcterms:W3CDTF">2026-02-14T05:07:14Z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2025-09-12T11:00:00Z</vt:filetime>
  </property>
  <property fmtid="{D5CDD505-2E9C-101B-9397-08002B2CF9AE}" pid="3" name="LastSaved">
    <vt:filetime>2025-10-12T11:00:00Z</vt:filetime>
  </property>
  <property fmtid="{D5CDD505-2E9C-101B-9397-08002B2CF9AE}" pid="4" name="ICV">
    <vt:lpwstr>762031EA0EA24205AC6C78D780B94128_12</vt:lpwstr>
  </property>
  <property fmtid="{D5CDD505-2E9C-101B-9397-08002B2CF9AE}" pid="5" name="KSOProductBuildVer">
    <vt:lpwstr>1033-12.2.0.23196</vt:lpwstr>
  </property>
</Properties>
</file>