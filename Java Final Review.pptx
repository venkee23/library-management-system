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3" r:id="rId9"/>
    <p:sldId id="286" r:id="rId10"/>
    <p:sldId id="285" r:id="rId11"/>
    <p:sldId id="271" r:id="rId12"/>
    <p:sldId id="281" r:id="rId13"/>
    <p:sldId id="287" r:id="rId14"/>
    <p:sldId id="289" r:id="rId15"/>
    <p:sldId id="288" r:id="rId16"/>
    <p:sldId id="292" r:id="rId17"/>
    <p:sldId id="293" r:id="rId18"/>
    <p:sldId id="290" r:id="rId19"/>
    <p:sldId id="291" r:id="rId20"/>
    <p:sldId id="268" r:id="rId21"/>
    <p:sldId id="269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9244" autoAdjust="0"/>
    <p:restoredTop sz="94660"/>
  </p:normalViewPr>
  <p:slideViewPr>
    <p:cSldViewPr>
      <p:cViewPr varScale="1">
        <p:scale>
          <a:sx n="61" d="100"/>
          <a:sy n="61" d="100"/>
        </p:scale>
        <p:origin x="-1710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661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DD6944-C75D-642A-33EC-861C4C9E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8B92471-DA30-4B37-FCA6-6EF20124D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D1FE530-0FC2-EC25-4907-8124FE661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03AE0AE-6066-70F2-58D0-DE497EDE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3705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7139B1-A475-4CBB-3C79-9D26E5A8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81C7ED2-D36F-F380-B914-E293551BC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9291147-730F-8489-F314-EBBEE6FC1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B461C2B-CF90-5661-FD6B-4743F3CA8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822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8C70F2-0EF9-0550-A72E-404207C3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700AA8-577A-B5F3-39C0-0D9C6D252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3A2C486-2F3A-630C-86E2-8D8A883F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50BFAA6-56A9-3BDB-EAC1-346BC26C2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4310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610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0130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2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50698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80228F-58ED-A8A9-83F6-417BF9E8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06092AC-450B-ED20-CC0E-863B8D3F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E5D67FF-E9BF-B02A-BB9A-F8D92EE1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48B14A-9DA2-06A7-BD4E-CC42A4DF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1873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https://docs.oracle.com/javase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ocs.orac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hyperlink" Target="https://www.w3schools.com/java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Cornerstone Project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0895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/>
              <a:t>Library </a:t>
            </a:r>
            <a:r>
              <a:rPr lang="en-IN" sz="2400" dirty="0"/>
              <a:t>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IN" sz="2000" spc="-10" dirty="0" err="1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Chaitanya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(24B11CS027)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sz="2000" spc="-10" dirty="0" err="1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Venkatesh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24B11CS191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sz="2000" spc="-10" dirty="0" err="1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Rupesh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24B11CS210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IN" sz="2000" spc="-10" dirty="0" err="1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Jashuva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 Naidu</a:t>
            </a:r>
            <a:r>
              <a:rPr lang="en-IN" sz="2000" spc="-10" dirty="0" smtClean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(24B11CS105)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200" dirty="0" smtClean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xmlns="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71F55BA-986F-654A-5E2D-6EB3BA46572D}"/>
              </a:ext>
            </a:extLst>
          </p:cNvPr>
          <p:cNvSpPr txBox="1"/>
          <p:nvPr/>
        </p:nvSpPr>
        <p:spPr>
          <a:xfrm>
            <a:off x="723900" y="1185265"/>
            <a:ext cx="861060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Java-based application designed to manage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-related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efficiently within an organization.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functionalities such as adding, updating, searching, and viewing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records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thereby reducing manual effort and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improve data accuracy, accessibility, and security by using a structured and centralized approach.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be developed using core Java concepts and database connectivity for persistent data storage.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xmlns="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xmlns="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xmlns="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xmlns="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xmlns="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xmlns="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5851B59-AD5A-81AD-7D42-C1CD5E589B58}"/>
              </a:ext>
            </a:extLst>
          </p:cNvPr>
          <p:cNvSpPr txBox="1"/>
          <p:nvPr/>
        </p:nvSpPr>
        <p:spPr>
          <a:xfrm>
            <a:off x="723900" y="1437175"/>
            <a:ext cx="8610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any organization, maintaining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is a critical and continuous task.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systems are time-consuming, error-prone, and difficult to manage as data grows.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 simplifies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details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and improves organizational efficiency.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application for effective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xmlns="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xmlns="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xmlns="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xmlns="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xmlns="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xmlns="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adding new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such as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Name, Author, and Copies.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allows to edit admin details and adding or deleting staff.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functionality to update existing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whenever required.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can delete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with proper confirmation.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searching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xmlns="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xmlns="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xmlns="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xmlns="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xmlns="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xmlns="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6633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 (JDK 8 or above)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US" sz="2000" dirty="0" smtClean="0"/>
              <a:t>Apache </a:t>
            </a:r>
            <a:r>
              <a:rPr lang="en-US" sz="2000" dirty="0" err="1" smtClean="0"/>
              <a:t>NetBeans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/ SQLite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(for version control)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xmlns="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CDD3B24-C6E3-C570-0D11-D85BD4A44819}"/>
              </a:ext>
            </a:extLst>
          </p:cNvPr>
          <p:cNvSpPr txBox="1"/>
          <p:nvPr/>
        </p:nvSpPr>
        <p:spPr>
          <a:xfrm>
            <a:off x="459209" y="1538820"/>
            <a:ext cx="9475671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relational database to store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efficiently.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tables:</a:t>
            </a:r>
          </a:p>
          <a:p>
            <a:pPr marL="1349375" lvl="3" indent="-3746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</a:p>
          <a:p>
            <a:pPr marL="1349375" lvl="3" indent="-3746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 Table</a:t>
            </a:r>
          </a:p>
          <a:p>
            <a:pPr marL="1349375" lvl="3" indent="-3746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Table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helps in reducing data redundancy and improving data organization.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linked to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foreign key relationship.</a:t>
            </a: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ensures data integrity using primary keys and constraints.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E440B4-B462-F22D-0950-B6710CF9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D4A9BBA5-9A38-1657-0653-14EC0D3B9CE4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6656BA03-D3A4-CDEA-202C-38C81F635B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4C109C39-054A-E81F-70B9-386F94A44C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1533A0EA-DA31-1EB6-ADF3-083AD01A4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0E8E014C-4F7F-C10B-D153-7578A6AE564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E5ECF7B6-4D35-5116-1FBA-A710C58C5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98FBF8DD-4922-6047-5E1A-EAFBB22DFB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6FE3A23-6F7A-9CD3-0012-E9E7C7331AAD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B0D226A-4905-9A23-644C-CE3991C38936}"/>
              </a:ext>
            </a:extLst>
          </p:cNvPr>
          <p:cNvSpPr txBox="1"/>
          <p:nvPr/>
        </p:nvSpPr>
        <p:spPr>
          <a:xfrm>
            <a:off x="533400" y="2005523"/>
            <a:ext cx="8366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smtClean="0"/>
              <a:t>Admin </a:t>
            </a:r>
            <a:r>
              <a:rPr lang="en-IN" b="1" dirty="0"/>
              <a:t>Table :</a:t>
            </a:r>
          </a:p>
          <a:p>
            <a:r>
              <a:rPr lang="en-US" dirty="0"/>
              <a:t>			Stores </a:t>
            </a:r>
            <a:r>
              <a:rPr lang="en-US" dirty="0" smtClean="0"/>
              <a:t>admin </a:t>
            </a:r>
            <a:r>
              <a:rPr lang="en-US" dirty="0"/>
              <a:t>details </a:t>
            </a:r>
            <a:endParaRPr lang="en-IN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7A2EBB8D-ECD5-E1A2-413F-793969B56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9662347"/>
              </p:ext>
            </p:extLst>
          </p:nvPr>
        </p:nvGraphicFramePr>
        <p:xfrm>
          <a:off x="1219200" y="3007008"/>
          <a:ext cx="8077984" cy="3885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496">
                  <a:extLst>
                    <a:ext uri="{9D8B030D-6E8A-4147-A177-3AD203B41FA5}">
                      <a16:colId xmlns:a16="http://schemas.microsoft.com/office/drawing/2014/main" xmlns="" val="2565518768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1063026024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2318603987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4086323780"/>
                    </a:ext>
                  </a:extLst>
                </a:gridCol>
              </a:tblGrid>
              <a:tr h="54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77565158"/>
                  </a:ext>
                </a:extLst>
              </a:tr>
              <a:tr h="54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 smtClean="0"/>
                        <a:t>User_ID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VARCHAR(50)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Admin </a:t>
                      </a: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44488007"/>
                  </a:ext>
                </a:extLst>
              </a:tr>
              <a:tr h="934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Admin </a:t>
                      </a: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79907431"/>
                  </a:ext>
                </a:extLst>
              </a:tr>
              <a:tr h="934202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Password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VARCHAR(20)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—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Admin Password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</a:tr>
              <a:tr h="934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Contact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Admin Contact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3236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6587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7A0787-E769-8B37-025D-041FF5E1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3476D6BF-13C6-C6B0-36DF-F1559314FAB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70BE4208-2AED-46E3-654C-0DE2B83F7F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8994CB99-6727-2B94-DE57-F503E8F8FB6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2851F0DB-95C6-22C8-2435-DA8595A2F76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7689328C-CC9D-EEE6-AEF0-27195081DA2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ECEAD52A-D6BA-B4AE-C1E4-8A5436627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FAB0F939-F8B0-7014-4713-2E3FA82313D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D205DEE-CF0B-DBC2-E5CD-2C4FB4661C9F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B7D6DA8-89F8-4CB4-20B5-36719C763BE0}"/>
              </a:ext>
            </a:extLst>
          </p:cNvPr>
          <p:cNvSpPr txBox="1"/>
          <p:nvPr/>
        </p:nvSpPr>
        <p:spPr>
          <a:xfrm>
            <a:off x="533400" y="2005523"/>
            <a:ext cx="8366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smtClean="0"/>
              <a:t>Books</a:t>
            </a:r>
            <a:r>
              <a:rPr lang="en-IN" dirty="0" smtClean="0"/>
              <a:t> </a:t>
            </a:r>
            <a:r>
              <a:rPr lang="en-IN" b="1" dirty="0"/>
              <a:t>Table :</a:t>
            </a:r>
          </a:p>
          <a:p>
            <a:r>
              <a:rPr lang="en-US" dirty="0"/>
              <a:t>	</a:t>
            </a:r>
            <a:r>
              <a:rPr lang="en-IN" dirty="0"/>
              <a:t>Stores </a:t>
            </a:r>
            <a:r>
              <a:rPr lang="en-IN" dirty="0" smtClean="0"/>
              <a:t>books details </a:t>
            </a:r>
            <a:endParaRPr lang="en-IN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C4CD2BA1-FBEB-D591-1D32-2516A6652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57477913"/>
              </p:ext>
            </p:extLst>
          </p:nvPr>
        </p:nvGraphicFramePr>
        <p:xfrm>
          <a:off x="1171548" y="3100382"/>
          <a:ext cx="8077984" cy="406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496">
                  <a:extLst>
                    <a:ext uri="{9D8B030D-6E8A-4147-A177-3AD203B41FA5}">
                      <a16:colId xmlns:a16="http://schemas.microsoft.com/office/drawing/2014/main" xmlns="" val="2565518768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1063026024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2318603987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xmlns="" val="4086323780"/>
                    </a:ext>
                  </a:extLst>
                </a:gridCol>
              </a:tblGrid>
              <a:tr h="43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77565158"/>
                  </a:ext>
                </a:extLst>
              </a:tr>
              <a:tr h="4332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 smtClean="0"/>
                    </a:p>
                    <a:p>
                      <a:pPr>
                        <a:buNone/>
                      </a:pPr>
                      <a:r>
                        <a:rPr lang="en-IN" dirty="0" err="1" smtClean="0"/>
                        <a:t>Book_ID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Book </a:t>
                      </a: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44488007"/>
                  </a:ext>
                </a:extLst>
              </a:tr>
              <a:tr h="74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Category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Book</a:t>
                      </a:r>
                      <a:r>
                        <a:rPr lang="en-IN" baseline="0" dirty="0" smtClean="0"/>
                        <a:t> Category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79907431"/>
                  </a:ext>
                </a:extLst>
              </a:tr>
              <a:tr h="74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VARCHAR(50)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—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Book Name</a:t>
                      </a:r>
                      <a:endParaRPr lang="en-IN" dirty="0"/>
                    </a:p>
                  </a:txBody>
                  <a:tcPr anchor="ctr"/>
                </a:tc>
              </a:tr>
              <a:tr h="74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Author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VARCHAR(50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Author Name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32366527"/>
                  </a:ext>
                </a:extLst>
              </a:tr>
              <a:tr h="74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Copies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INT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—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Number of Copies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2709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2AF869-60E9-7283-1E5C-031B97BB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D22CCC8F-8AC9-DA04-7DF6-792709DB8A6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D3CC7CDE-C0AA-8C40-F47A-6BB38775C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251A7B03-12DB-BDB0-A823-3B5CC5C3EA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34C3D95F-A98E-C662-A8CA-7C2260927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51ECD6EB-B411-BAC9-D612-83CAADD7C06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05340093-ADC0-C519-A46D-D43188C5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EC0178A3-A864-AC29-8239-3EE3EEC824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8CC2DB0-515C-5729-13F5-411810B0A1D6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E4EB3E5-F5F4-BFDA-2030-B081D8DD8B72}"/>
              </a:ext>
            </a:extLst>
          </p:cNvPr>
          <p:cNvSpPr txBox="1"/>
          <p:nvPr/>
        </p:nvSpPr>
        <p:spPr>
          <a:xfrm>
            <a:off x="533400" y="2005523"/>
            <a:ext cx="8366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smtClean="0"/>
              <a:t>Staff </a:t>
            </a:r>
            <a:r>
              <a:rPr lang="en-IN" b="1" dirty="0"/>
              <a:t>Table :</a:t>
            </a:r>
          </a:p>
          <a:p>
            <a:r>
              <a:rPr lang="en-US" dirty="0"/>
              <a:t>		Stores </a:t>
            </a:r>
            <a:r>
              <a:rPr lang="en-US" dirty="0" smtClean="0"/>
              <a:t>staff </a:t>
            </a:r>
            <a:r>
              <a:rPr lang="en-US" dirty="0"/>
              <a:t>details and links to </a:t>
            </a:r>
            <a:r>
              <a:rPr lang="en-US" dirty="0" smtClean="0"/>
              <a:t>books 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31F6B0F5-0FDB-2059-BAAA-EC98BE88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1585246"/>
              </p:ext>
            </p:extLst>
          </p:nvPr>
        </p:nvGraphicFramePr>
        <p:xfrm>
          <a:off x="1440742" y="2879663"/>
          <a:ext cx="7924800" cy="287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xmlns="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 smtClean="0"/>
                        <a:t>Staff_ID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VARCHAR(50)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Staff </a:t>
                      </a: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VARCHAR(50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Staff </a:t>
                      </a: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97805091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smtClean="0"/>
                        <a:t>Contact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Contact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15615743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Email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33003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9669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E698EF3-6CC5-CB2B-B3DF-1F2230442C23}"/>
              </a:ext>
            </a:extLst>
          </p:cNvPr>
          <p:cNvSpPr txBox="1"/>
          <p:nvPr/>
        </p:nvSpPr>
        <p:spPr>
          <a:xfrm>
            <a:off x="1143000" y="1589604"/>
            <a:ext cx="86105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Validates admin/user credentials to ensure authorized access to the 	system.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Captures and stores new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such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Category, Name,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Author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Enables viewing, updating, and deleting existing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	efficiently.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Allows quick retrieval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using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all database interactions using JDBC for secure data storage and 	retrieval.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Generates and displays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and summary reports for 	management review.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49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6B09BF8-939E-6C76-4342-E04259FF568B}"/>
              </a:ext>
            </a:extLst>
          </p:cNvPr>
          <p:cNvSpPr txBox="1"/>
          <p:nvPr/>
        </p:nvSpPr>
        <p:spPr>
          <a:xfrm>
            <a:off x="990600" y="1449777"/>
            <a:ext cx="8763000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Login window: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none" strike="noStrike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 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This window allows authorized users to enter their username and password to access the </a:t>
            </a:r>
            <a:r>
              <a:rPr lang="en-IN" sz="18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Library 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Management System.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14622" y="3457572"/>
            <a:ext cx="4357718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14269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8DE39BD-B38D-F038-C3C2-37F3F226C77D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 smtClean="0"/>
              <a:t>Dashboard </a:t>
            </a:r>
            <a:r>
              <a:rPr lang="en-IN" sz="1800" b="1" u="sng" dirty="0"/>
              <a:t>Window:</a:t>
            </a:r>
            <a:endParaRPr lang="en-IN" sz="1800" dirty="0"/>
          </a:p>
          <a:p>
            <a:r>
              <a:rPr lang="en-IN" sz="1800" b="1" dirty="0"/>
              <a:t> </a:t>
            </a:r>
            <a:endParaRPr lang="en-IN" sz="1800" dirty="0"/>
          </a:p>
          <a:p>
            <a:r>
              <a:rPr lang="en-IN" sz="1800" dirty="0"/>
              <a:t>This window provides navigation options to perform different operations such as adding, updating, deleting, searching, and viewing </a:t>
            </a:r>
            <a:r>
              <a:rPr lang="en-IN" sz="1800" dirty="0" smtClean="0"/>
              <a:t>library </a:t>
            </a:r>
            <a:r>
              <a:rPr lang="en-IN" sz="1800" dirty="0"/>
              <a:t>records.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600308" y="3243258"/>
            <a:ext cx="5072098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248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E08911D-DB8D-864A-A56A-021103D1465A}"/>
              </a:ext>
            </a:extLst>
          </p:cNvPr>
          <p:cNvSpPr txBox="1"/>
          <p:nvPr/>
        </p:nvSpPr>
        <p:spPr>
          <a:xfrm>
            <a:off x="990600" y="1449777"/>
            <a:ext cx="876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 smtClean="0"/>
              <a:t>Add Books Window:</a:t>
            </a:r>
            <a:endParaRPr lang="en-IN" sz="1800" dirty="0" smtClean="0"/>
          </a:p>
          <a:p>
            <a:r>
              <a:rPr lang="en-IN" sz="1800" b="1" dirty="0" smtClean="0"/>
              <a:t> </a:t>
            </a:r>
            <a:endParaRPr lang="en-IN" sz="1800" dirty="0" smtClean="0"/>
          </a:p>
          <a:p>
            <a:pPr algn="just"/>
            <a:r>
              <a:rPr lang="en-IN" sz="1800" dirty="0" smtClean="0"/>
              <a:t>This window allows the user to enter and save new book details into the database</a:t>
            </a:r>
            <a:endParaRPr lang="en-IN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28804" y="2671754"/>
            <a:ext cx="6143668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5996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5FAADD-4D19-CE1A-A0AE-6EEF3536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8F364F5D-D793-1E9D-BAE2-D5AEB2FAA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xmlns="" id="{3FA4B9F1-F58E-6088-7BFB-C923676C0FF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DFF7E8-2D7E-EE44-718C-EFE70C9A2E40}"/>
              </a:ext>
            </a:extLst>
          </p:cNvPr>
          <p:cNvSpPr txBox="1"/>
          <p:nvPr/>
        </p:nvSpPr>
        <p:spPr>
          <a:xfrm>
            <a:off x="990600" y="1449777"/>
            <a:ext cx="876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 smtClean="0"/>
              <a:t>Search Books </a:t>
            </a:r>
            <a:r>
              <a:rPr lang="en-IN" sz="1800" b="1" u="sng" dirty="0"/>
              <a:t>Window:</a:t>
            </a:r>
            <a:endParaRPr lang="en-IN" sz="1800" dirty="0"/>
          </a:p>
          <a:p>
            <a:r>
              <a:rPr lang="en-IN" sz="1800" b="1" dirty="0"/>
              <a:t> </a:t>
            </a:r>
            <a:endParaRPr lang="en-IN" sz="1800" dirty="0"/>
          </a:p>
          <a:p>
            <a:pPr algn="just"/>
            <a:r>
              <a:rPr lang="en-IN" sz="1800" dirty="0"/>
              <a:t>This window enables the user </a:t>
            </a:r>
            <a:r>
              <a:rPr lang="en-IN" sz="1800" dirty="0" smtClean="0"/>
              <a:t>to search books using author name or id.</a:t>
            </a:r>
            <a:endParaRPr lang="en-IN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85928" y="3028944"/>
            <a:ext cx="6143668" cy="375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4924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1200329"/>
          </a:xfrm>
        </p:spPr>
        <p:txBody>
          <a:bodyPr/>
          <a:lstStyle/>
          <a:p>
            <a:r>
              <a:rPr lang="en-US" u="sng" dirty="0" smtClean="0"/>
              <a:t>Edit Admin Module: 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      </a:t>
            </a:r>
            <a:r>
              <a:rPr lang="en-US" b="0" dirty="0" smtClean="0"/>
              <a:t>This window enables to edit admin details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8804" y="2743192"/>
            <a:ext cx="5929354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xmlns="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xmlns="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xmlns="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xmlns="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sz="2000" dirty="0" smtClean="0">
                  <a:solidFill>
                    <a:schemeClr val="bg1"/>
                  </a:solidFill>
                </a:rPr>
                <a:t>              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System Implementation</a:t>
              </a:r>
              <a:endParaRPr sz="20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44" y="1528746"/>
            <a:ext cx="8949055" cy="1200329"/>
          </a:xfrm>
        </p:spPr>
        <p:txBody>
          <a:bodyPr/>
          <a:lstStyle/>
          <a:p>
            <a:r>
              <a:rPr lang="en-US" u="sng" dirty="0" smtClean="0"/>
              <a:t>Display Books Module: </a:t>
            </a:r>
          </a:p>
          <a:p>
            <a:r>
              <a:rPr lang="en-US" dirty="0" smtClean="0"/>
              <a:t> </a:t>
            </a:r>
            <a:r>
              <a:rPr lang="en-US" dirty="0" smtClean="0"/>
              <a:t>       </a:t>
            </a:r>
          </a:p>
          <a:p>
            <a:r>
              <a:rPr lang="en-US" dirty="0" smtClean="0"/>
              <a:t>              </a:t>
            </a:r>
            <a:r>
              <a:rPr lang="en-US" b="0" dirty="0" smtClean="0"/>
              <a:t>This window enables details of records in library.</a:t>
            </a:r>
          </a:p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3052" y="2957506"/>
            <a:ext cx="671517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xmlns="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xmlns="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xmlns="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xmlns="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xmlns="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sz="2000" dirty="0" smtClean="0">
                  <a:solidFill>
                    <a:schemeClr val="bg1"/>
                  </a:solidFill>
                </a:rPr>
                <a:t>              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System Implementation</a:t>
              </a:r>
              <a:endParaRPr sz="20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E93131E-D2BB-EC5C-2A95-924FDF20D02E}"/>
              </a:ext>
            </a:extLst>
          </p:cNvPr>
          <p:cNvSpPr txBox="1"/>
          <p:nvPr/>
        </p:nvSpPr>
        <p:spPr>
          <a:xfrm>
            <a:off x="314911" y="1143000"/>
            <a:ext cx="9448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/>
              <a:t>The </a:t>
            </a:r>
            <a:r>
              <a:rPr lang="en-IN" sz="2000" dirty="0" smtClean="0"/>
              <a:t>Library </a:t>
            </a:r>
            <a:r>
              <a:rPr lang="en-IN" sz="2000" dirty="0"/>
              <a:t>Management System developed in this project provides basic functionalities for managing </a:t>
            </a:r>
            <a:r>
              <a:rPr lang="en-IN" sz="2000" dirty="0" smtClean="0"/>
              <a:t>library </a:t>
            </a:r>
            <a:r>
              <a:rPr lang="en-IN" sz="2000" dirty="0"/>
              <a:t>records. However, the system can be further enhanced by adding advanced features to improve its functionality and </a:t>
            </a:r>
            <a:r>
              <a:rPr lang="en-IN" sz="2000" dirty="0" smtClean="0"/>
              <a:t>usability . Some </a:t>
            </a:r>
            <a:r>
              <a:rPr lang="en-IN" sz="2000" dirty="0"/>
              <a:t>possible future enhancements include: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 smtClean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/>
              <a:t>Payroll </a:t>
            </a:r>
            <a:r>
              <a:rPr lang="en-IN" sz="2000" b="1" dirty="0"/>
              <a:t>Management: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Adding </a:t>
            </a:r>
            <a:r>
              <a:rPr lang="en-IN" sz="2000" dirty="0" smtClean="0"/>
              <a:t>QR code for every book and tracing </a:t>
            </a:r>
            <a:r>
              <a:rPr lang="en-IN" sz="2000" dirty="0" smtClean="0"/>
              <a:t>them using sensors.</a:t>
            </a:r>
            <a:r>
              <a:rPr lang="en-IN" sz="2000" dirty="0" smtClean="0"/>
              <a:t> </a:t>
            </a: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	</a:t>
            </a:r>
            <a:r>
              <a:rPr lang="en-IN" sz="2000" dirty="0" smtClean="0"/>
              <a:t>features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/>
              <a:t>Web-Based </a:t>
            </a:r>
            <a:r>
              <a:rPr lang="en-IN" sz="2000" b="1" dirty="0"/>
              <a:t>Application: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Converting the desktop application into a web-based system for remote 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	access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xmlns="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xmlns="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xmlns="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xmlns="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xmlns="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xmlns="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xmlns="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8789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5376381-AD7A-228D-6305-1256490B7F5E}"/>
              </a:ext>
            </a:extLst>
          </p:cNvPr>
          <p:cNvSpPr txBox="1"/>
          <p:nvPr/>
        </p:nvSpPr>
        <p:spPr>
          <a:xfrm>
            <a:off x="304800" y="1034052"/>
            <a:ext cx="94488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The following references were used during the development of the </a:t>
            </a:r>
            <a:r>
              <a:rPr lang="en-IN" sz="2000" dirty="0" smtClean="0"/>
              <a:t>Library </a:t>
            </a:r>
            <a:r>
              <a:rPr lang="en-IN" sz="2000" dirty="0"/>
              <a:t>Management System: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Herbert </a:t>
            </a:r>
            <a:r>
              <a:rPr lang="en-US" dirty="0" err="1" smtClean="0"/>
              <a:t>Schildt</a:t>
            </a:r>
            <a:r>
              <a:rPr lang="en-US" dirty="0" smtClean="0"/>
              <a:t> – </a:t>
            </a:r>
            <a:r>
              <a:rPr lang="en-US" i="1" dirty="0" smtClean="0"/>
              <a:t>Java: The Complete Reference</a:t>
            </a:r>
            <a:r>
              <a:rPr lang="en-US" dirty="0" smtClean="0"/>
              <a:t>, Oracle Press 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E. </a:t>
            </a:r>
            <a:r>
              <a:rPr lang="en-US" dirty="0" err="1" smtClean="0"/>
              <a:t>Balagurusamy</a:t>
            </a:r>
            <a:r>
              <a:rPr lang="en-US" dirty="0" smtClean="0"/>
              <a:t> – </a:t>
            </a:r>
            <a:r>
              <a:rPr lang="en-US" i="1" dirty="0" smtClean="0"/>
              <a:t>Programming with Java</a:t>
            </a:r>
            <a:r>
              <a:rPr lang="en-US" dirty="0" smtClean="0"/>
              <a:t>, McGraw Hill 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Korth</a:t>
            </a:r>
            <a:r>
              <a:rPr lang="en-US" dirty="0" smtClean="0"/>
              <a:t>, </a:t>
            </a:r>
            <a:r>
              <a:rPr lang="en-US" dirty="0" err="1" smtClean="0"/>
              <a:t>Silberschatz</a:t>
            </a:r>
            <a:r>
              <a:rPr lang="en-US" dirty="0" smtClean="0"/>
              <a:t>, </a:t>
            </a:r>
            <a:r>
              <a:rPr lang="en-US" dirty="0" err="1" smtClean="0"/>
              <a:t>Sudarshan</a:t>
            </a:r>
            <a:r>
              <a:rPr lang="en-US" dirty="0" smtClean="0"/>
              <a:t> – </a:t>
            </a:r>
            <a:r>
              <a:rPr lang="en-US" i="1" dirty="0" smtClean="0"/>
              <a:t>Database System Concepts 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/>
              <a:t>Oracle </a:t>
            </a:r>
            <a:r>
              <a:rPr lang="en-IN" b="1" dirty="0"/>
              <a:t>Documentation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2"/>
              </a:rPr>
              <a:t>https://docs.oracle.com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Documentation (Oracle)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3"/>
              </a:rPr>
              <a:t>https://docs.oracle.com/javase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JDBC Tutorial – </a:t>
            </a:r>
            <a:r>
              <a:rPr lang="en-IN" b="1" dirty="0" err="1"/>
              <a:t>GeeksforGeeks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https://www.geeksforgeeks.org/jdbc/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Swing Tutorial – </a:t>
            </a:r>
            <a:r>
              <a:rPr lang="en-IN" b="1" dirty="0" err="1"/>
              <a:t>TutorialsPoint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https://www.tutorialspoint.com/java_swing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W3Schools Java Tutorial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4"/>
              </a:rPr>
              <a:t>https://www.w3schools.com/java/</a:t>
            </a:r>
            <a:endParaRPr lang="en-IN" dirty="0"/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xmlns="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xmlns="" id="{6897A887-118D-142E-FC3E-D6BE5C1E97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xmlns="" id="{A69A73B6-BAAC-6763-2263-E88C0E65C7C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xmlns="" id="{B12E086F-BA20-7EBA-DFAA-D7884D2F8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xmlns="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xmlns="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xmlns="" id="{6E0266AA-A7A6-E24C-77B4-437EA276627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8202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BB4592-5775-79D7-4F02-0BE4F7025B51}"/>
              </a:ext>
            </a:extLst>
          </p:cNvPr>
          <p:cNvSpPr txBox="1"/>
          <p:nvPr/>
        </p:nvSpPr>
        <p:spPr>
          <a:xfrm>
            <a:off x="381000" y="1323261"/>
            <a:ext cx="9448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smtClean="0"/>
              <a:t>Library </a:t>
            </a:r>
            <a:r>
              <a:rPr lang="en-US" sz="2000" dirty="0"/>
              <a:t>Management System was successfully developed as a desktop application.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replaces manual record-keeping with an efficient digital solution.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provides key functionalities like </a:t>
            </a:r>
            <a:r>
              <a:rPr lang="en-US" sz="2000" b="1" dirty="0"/>
              <a:t>adding, updating, deleting, and searching </a:t>
            </a:r>
            <a:r>
              <a:rPr lang="en-US" sz="2000" b="1" dirty="0" smtClean="0"/>
              <a:t>library </a:t>
            </a:r>
            <a:r>
              <a:rPr lang="en-US" sz="2000" b="1" dirty="0"/>
              <a:t>records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ensures </a:t>
            </a:r>
            <a:r>
              <a:rPr lang="en-US" sz="2000" b="1" dirty="0"/>
              <a:t>data accuracy, security, and easy accessibility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Technologies like </a:t>
            </a:r>
            <a:r>
              <a:rPr lang="en-US" sz="2000" b="1" dirty="0"/>
              <a:t>Java, Swing, JDBC, and Oracle Database</a:t>
            </a:r>
            <a:r>
              <a:rPr lang="en-US" sz="2000" dirty="0"/>
              <a:t> enabled reliable performance.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improves organizational efficiency and reduces administrative workload.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xmlns="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xmlns="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xmlns="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xmlns="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xmlns="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xmlns="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xmlns="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9419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xmlns="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2641</TotalTime>
  <Words>751</Words>
  <Application>Microsoft Office PowerPoint</Application>
  <PresentationFormat>Custom</PresentationFormat>
  <Paragraphs>212</Paragraphs>
  <Slides>21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Java Programming Cornerstone Project Final Review</vt:lpstr>
      <vt:lpstr>Slide 2</vt:lpstr>
      <vt:lpstr>ABSTRACT</vt:lpstr>
      <vt:lpstr>Slide 4</vt:lpstr>
      <vt:lpstr>Slide 5</vt:lpstr>
      <vt:lpstr>Slide 6</vt:lpstr>
      <vt:lpstr>Database Design</vt:lpstr>
      <vt:lpstr>Database Design</vt:lpstr>
      <vt:lpstr>Database Design</vt:lpstr>
      <vt:lpstr>Database Design</vt:lpstr>
      <vt:lpstr>SYSTEM DESIGN</vt:lpstr>
      <vt:lpstr>System Implementation</vt:lpstr>
      <vt:lpstr>System Implementation</vt:lpstr>
      <vt:lpstr>System Implementation</vt:lpstr>
      <vt:lpstr>System Implementation</vt:lpstr>
      <vt:lpstr>Slide 16</vt:lpstr>
      <vt:lpstr>Slide 17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USERSS</cp:lastModifiedBy>
  <cp:revision>53</cp:revision>
  <cp:lastPrinted>2025-10-14T18:21:49Z</cp:lastPrinted>
  <dcterms:created xsi:type="dcterms:W3CDTF">2025-10-10T08:28:06Z</dcterms:created>
  <dcterms:modified xsi:type="dcterms:W3CDTF">2026-04-03T15:47:24Z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